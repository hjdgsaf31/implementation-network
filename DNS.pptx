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43" r:id="rId2"/>
    <p:sldId id="296" r:id="rId3"/>
    <p:sldId id="297" r:id="rId4"/>
    <p:sldId id="389" r:id="rId5"/>
    <p:sldId id="298" r:id="rId6"/>
    <p:sldId id="405" r:id="rId7"/>
    <p:sldId id="406" r:id="rId8"/>
    <p:sldId id="390" r:id="rId9"/>
    <p:sldId id="391" r:id="rId10"/>
    <p:sldId id="302" r:id="rId11"/>
    <p:sldId id="303" r:id="rId1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FFFF00"/>
    <a:srgbClr val="DDDDDD"/>
    <a:srgbClr val="FFCCFF"/>
    <a:srgbClr val="FF99CC"/>
    <a:srgbClr val="CC00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8" autoAdjust="0"/>
    <p:restoredTop sz="84719" autoAdjust="0"/>
  </p:normalViewPr>
  <p:slideViewPr>
    <p:cSldViewPr snapToGrid="0">
      <p:cViewPr varScale="1">
        <p:scale>
          <a:sx n="132" d="100"/>
          <a:sy n="132" d="100"/>
        </p:scale>
        <p:origin x="251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42"/>
    </p:cViewPr>
  </p:sorterViewPr>
  <p:notesViewPr>
    <p:cSldViewPr snapToGrid="0">
      <p:cViewPr varScale="1">
        <p:scale>
          <a:sx n="113" d="100"/>
          <a:sy n="113" d="100"/>
        </p:scale>
        <p:origin x="508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8F021A1-7ECD-437E-A934-D962DC636C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182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2871A81-1A21-48FE-8A38-39F77F7F82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82618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871A81-1A21-48FE-8A38-39F77F7F822E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1405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87FDB2-3C16-4BE2-9CB9-EEBD6B389070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071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A8A7EE-54D1-4B8A-912A-6465E2888ED8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749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C91390-EB7D-48C0-8734-6E4519987B3B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320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7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FFABEC-B959-49FE-AF98-83450BDD0932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217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9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928E5D-ACE3-4DF2-AC59-A1D056A3AE0C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569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3C99AB-AF75-4616-A76C-80B3F81E6610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14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43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C23894-7CA7-4B4B-BC5B-4179AEC47C10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493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45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B07D5D-0B2F-457F-AC1F-AEA4757EC7D2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55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47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5FC6CA-50AA-4924-A8A8-2820E2D885E1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20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49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923548-5A7B-4E80-A2CD-70D235C55911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09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158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76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87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333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197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9C116-8002-48C4-985B-1D22F655C956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548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B33EDD-329A-41AC-8FD0-874FA38198F2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87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F18AF-1F53-4668-BE96-97021DFA4D6F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B5174-44C6-41C7-AA60-8C9DACC1A4BA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12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4E75A-3A4D-4B2B-98DA-AA0E1296A2F3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54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329D9B-557C-4249-AAB9-6361C5F7AE2D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027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D6F88-D377-4999-863E-EB3D8DD8C396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7029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FEA5C-BF13-4E2D-B85E-5211EFE7A8C4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1242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CACF6-4A9A-43DC-B17A-4070077FA43B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77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7435E5-7A43-456E-800E-AEC6B48C3A98}" type="datetime1">
              <a:rPr lang="en-US" altLang="en-US"/>
              <a:pPr>
                <a:defRPr/>
              </a:pPr>
              <a:t>10/24/21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43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6" r:id="rId1"/>
    <p:sldLayoutId id="2147484377" r:id="rId2"/>
    <p:sldLayoutId id="2147484378" r:id="rId3"/>
    <p:sldLayoutId id="2147484379" r:id="rId4"/>
    <p:sldLayoutId id="2147484380" r:id="rId5"/>
    <p:sldLayoutId id="2147484381" r:id="rId6"/>
    <p:sldLayoutId id="2147484382" r:id="rId7"/>
    <p:sldLayoutId id="2147484383" r:id="rId8"/>
    <p:sldLayoutId id="2147484384" r:id="rId9"/>
    <p:sldLayoutId id="2147484385" r:id="rId10"/>
    <p:sldLayoutId id="2147484386" r:id="rId11"/>
    <p:sldLayoutId id="2147484387" r:id="rId12"/>
    <p:sldLayoutId id="2147484388" r:id="rId13"/>
    <p:sldLayoutId id="2147484389" r:id="rId14"/>
    <p:sldLayoutId id="2147484390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Gill Sans MT" pitchFamily="34" charset="0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Gill Sans MT" pitchFamily="34" charset="0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  <a:cs typeface="Arial" panose="020B0604020202020204" pitchFamily="34" charset="0"/>
              </a:rPr>
              <a:t>1-</a:t>
            </a:r>
            <a:fld id="{484AA427-67D9-4A90-AFD4-027042599EC4}" type="slidenum">
              <a:rPr lang="en-US" altLang="en-US" sz="1200">
                <a:latin typeface="Tahoma" panose="020B060403050404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371475" y="715963"/>
            <a:ext cx="51054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rgbClr val="000099"/>
                </a:solidFill>
                <a:cs typeface="Arial" panose="020B0604020202020204" pitchFamily="34" charset="0"/>
              </a:rPr>
              <a:t>DNS</a:t>
            </a:r>
          </a:p>
        </p:txBody>
      </p:sp>
      <p:pic>
        <p:nvPicPr>
          <p:cNvPr id="17413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97088"/>
            <a:ext cx="3082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3"/>
          <p:cNvSpPr>
            <a:spLocks noChangeArrowheads="1"/>
          </p:cNvSpPr>
          <p:nvPr/>
        </p:nvSpPr>
        <p:spPr bwMode="auto">
          <a:xfrm>
            <a:off x="371475" y="4311650"/>
            <a:ext cx="71818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99"/>
                </a:solidFill>
                <a:cs typeface="Arial" panose="020B0604020202020204" pitchFamily="34" charset="0"/>
              </a:rPr>
              <a:t>Dr. Shakeel Ahmad,  Assoc. Prof</a:t>
            </a:r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6184900" y="3078163"/>
            <a:ext cx="2881313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solidFill>
                  <a:srgbClr val="008000"/>
                </a:solidFill>
                <a:cs typeface="Arial" panose="020B0604020202020204" pitchFamily="34" charset="0"/>
              </a:rPr>
              <a:t>Computer Networking: A Top Down Approach </a:t>
            </a:r>
            <a:br>
              <a:rPr lang="en-US" altLang="en-US" dirty="0">
                <a:solidFill>
                  <a:srgbClr val="008000"/>
                </a:solidFill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rgbClr val="008000"/>
                </a:solidFill>
                <a:cs typeface="Arial" panose="020B0604020202020204" pitchFamily="34" charset="0"/>
              </a:rPr>
              <a:t>6</a:t>
            </a:r>
            <a:r>
              <a:rPr lang="en-US" altLang="en-US" sz="2000" baseline="30000" dirty="0">
                <a:solidFill>
                  <a:srgbClr val="008000"/>
                </a:solidFill>
                <a:cs typeface="Arial" panose="020B0604020202020204" pitchFamily="34" charset="0"/>
              </a:rPr>
              <a:t>th</a:t>
            </a:r>
            <a:r>
              <a:rPr lang="en-US" altLang="en-US" sz="2000" dirty="0">
                <a:solidFill>
                  <a:srgbClr val="008000"/>
                </a:solidFill>
                <a:cs typeface="Arial" panose="020B0604020202020204" pitchFamily="34" charset="0"/>
              </a:rPr>
              <a:t> edition </a:t>
            </a:r>
            <a:br>
              <a:rPr lang="en-US" altLang="en-US" sz="2000" dirty="0">
                <a:solidFill>
                  <a:srgbClr val="008000"/>
                </a:solidFill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rgbClr val="008000"/>
                </a:solidFill>
                <a:cs typeface="Arial" panose="020B0604020202020204" pitchFamily="34" charset="0"/>
              </a:rPr>
              <a:t>Jim Kurose, Keith Ross</a:t>
            </a:r>
            <a:br>
              <a:rPr lang="en-US" altLang="en-US" sz="2000" dirty="0">
                <a:solidFill>
                  <a:srgbClr val="008000"/>
                </a:solidFill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rgbClr val="008000"/>
                </a:solidFill>
                <a:cs typeface="Arial" panose="020B0604020202020204" pitchFamily="34" charset="0"/>
              </a:rPr>
              <a:t>Addison-Wesley</a:t>
            </a:r>
            <a:br>
              <a:rPr lang="en-US" altLang="en-US" sz="2000" dirty="0">
                <a:solidFill>
                  <a:srgbClr val="008000"/>
                </a:solidFill>
                <a:cs typeface="Arial" panose="020B0604020202020204" pitchFamily="34" charset="0"/>
              </a:rPr>
            </a:br>
            <a:endParaRPr lang="en-US" altLang="en-US" sz="2000" dirty="0">
              <a:solidFill>
                <a:srgbClr val="008000"/>
              </a:solidFill>
              <a:cs typeface="Arial" panose="020B0604020202020204" pitchFamily="34" charset="0"/>
            </a:endParaRPr>
          </a:p>
        </p:txBody>
      </p:sp>
      <p:pic>
        <p:nvPicPr>
          <p:cNvPr id="17416" name="Picture 1" descr="6e_cov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511175"/>
            <a:ext cx="2306638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0051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A6BF9576-2C22-4D1A-B7C6-82400E9C6841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130052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9906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1625"/>
            <a:ext cx="7772400" cy="914400"/>
          </a:xfrm>
        </p:spPr>
        <p:txBody>
          <a:bodyPr/>
          <a:lstStyle/>
          <a:p>
            <a:r>
              <a:rPr lang="en-US" altLang="en-US" sz="4000"/>
              <a:t>DNS: domain name system</a:t>
            </a:r>
            <a:endParaRPr lang="en-US" altLang="en-US"/>
          </a:p>
        </p:txBody>
      </p:sp>
      <p:sp>
        <p:nvSpPr>
          <p:cNvPr id="1300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51130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000099"/>
                </a:solidFill>
              </a:rPr>
              <a:t>people:</a:t>
            </a:r>
            <a:r>
              <a:rPr lang="en-US" altLang="en-US" sz="2400"/>
              <a:t> many identifiers:</a:t>
            </a:r>
          </a:p>
          <a:p>
            <a:pPr lvl="1"/>
            <a:r>
              <a:rPr lang="en-US" altLang="en-US"/>
              <a:t>SSN, name, passport 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000099"/>
                </a:solidFill>
              </a:rPr>
              <a:t>Internet hosts, routers:</a:t>
            </a:r>
          </a:p>
          <a:p>
            <a:pPr lvl="1"/>
            <a:r>
              <a:rPr lang="en-US" altLang="en-US"/>
              <a:t>IP address (32 bit) - used for addressing datagrams</a:t>
            </a:r>
          </a:p>
          <a:p>
            <a:pPr lvl="1"/>
            <a:r>
              <a:rPr lang="ja-JP" altLang="en-US"/>
              <a:t>“</a:t>
            </a:r>
            <a:r>
              <a:rPr lang="en-US" altLang="ja-JP"/>
              <a:t>name</a:t>
            </a:r>
            <a:r>
              <a:rPr lang="ja-JP" altLang="en-US"/>
              <a:t>”</a:t>
            </a:r>
            <a:r>
              <a:rPr lang="en-US" altLang="ja-JP"/>
              <a:t>, e.g., www.yahoo.com - used by humans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u="sng">
                <a:solidFill>
                  <a:srgbClr val="CC0000"/>
                </a:solidFill>
              </a:rPr>
              <a:t>Q:</a:t>
            </a:r>
            <a:r>
              <a:rPr lang="en-US" altLang="en-US" sz="2400"/>
              <a:t> how to map between IP address and name, and vice versa ?</a:t>
            </a:r>
          </a:p>
        </p:txBody>
      </p:sp>
      <p:sp>
        <p:nvSpPr>
          <p:cNvPr id="16999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489075"/>
            <a:ext cx="4283075" cy="5006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Domain Name System:</a:t>
            </a:r>
          </a:p>
          <a:p>
            <a:r>
              <a:rPr lang="en-US" altLang="en-US" sz="2400" i="1">
                <a:solidFill>
                  <a:srgbClr val="000099"/>
                </a:solidFill>
              </a:rPr>
              <a:t>distributed database</a:t>
            </a:r>
            <a:r>
              <a:rPr lang="en-US" altLang="en-US" sz="2400"/>
              <a:t> implemented in hierarchy of many </a:t>
            </a:r>
            <a:r>
              <a:rPr lang="en-US" altLang="en-US" sz="2400" i="1">
                <a:solidFill>
                  <a:srgbClr val="000099"/>
                </a:solidFill>
              </a:rPr>
              <a:t>name servers</a:t>
            </a:r>
            <a:endParaRPr lang="en-US" altLang="en-US" sz="2400">
              <a:solidFill>
                <a:srgbClr val="000099"/>
              </a:solidFill>
            </a:endParaRPr>
          </a:p>
          <a:p>
            <a:r>
              <a:rPr lang="en-US" altLang="en-US" sz="2400" i="1">
                <a:solidFill>
                  <a:srgbClr val="000099"/>
                </a:solidFill>
              </a:rPr>
              <a:t>application-layer protocol:</a:t>
            </a:r>
            <a:r>
              <a:rPr lang="en-US" altLang="en-US" sz="2400"/>
              <a:t> hosts, name servers communicate to </a:t>
            </a:r>
            <a:r>
              <a:rPr lang="en-US" altLang="en-US" sz="2400" i="1">
                <a:solidFill>
                  <a:srgbClr val="000099"/>
                </a:solidFill>
              </a:rPr>
              <a:t>resolve</a:t>
            </a:r>
            <a:r>
              <a:rPr lang="en-US" altLang="en-US" sz="2400">
                <a:solidFill>
                  <a:srgbClr val="FF0000"/>
                </a:solidFill>
              </a:rPr>
              <a:t> </a:t>
            </a:r>
            <a:r>
              <a:rPr lang="en-US" altLang="en-US" sz="2400"/>
              <a:t>names (address/name translation)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note: core Internet function, implemented as application-layer protocol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complexity at network</a:t>
            </a:r>
            <a:r>
              <a:rPr lang="ja-JP" altLang="en-US" sz="2200"/>
              <a:t>’</a:t>
            </a:r>
            <a:r>
              <a:rPr lang="en-US" altLang="ja-JP" sz="2200"/>
              <a:t>s </a:t>
            </a:r>
            <a:r>
              <a:rPr lang="ja-JP" altLang="en-US" sz="2200"/>
              <a:t>“</a:t>
            </a:r>
            <a:r>
              <a:rPr lang="en-US" altLang="ja-JP" sz="2200"/>
              <a:t>edge</a:t>
            </a:r>
            <a:r>
              <a:rPr lang="ja-JP" altLang="en-US" sz="2200"/>
              <a:t>”</a:t>
            </a:r>
            <a:endParaRPr lang="en-US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2099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5CA1689F-9CA7-4AD3-873A-4FE6CDED8B56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17475"/>
            <a:ext cx="7772400" cy="1143000"/>
          </a:xfrm>
        </p:spPr>
        <p:txBody>
          <a:bodyPr/>
          <a:lstStyle/>
          <a:p>
            <a:r>
              <a:rPr lang="en-US" altLang="en-US" sz="4000"/>
              <a:t>DNS: services, structure </a:t>
            </a:r>
            <a:endParaRPr lang="en-US" altLang="en-US"/>
          </a:p>
        </p:txBody>
      </p:sp>
      <p:sp>
        <p:nvSpPr>
          <p:cNvPr id="13210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271588"/>
            <a:ext cx="4191000" cy="22637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</a:rPr>
              <a:t>why not centralize DNS?</a:t>
            </a:r>
          </a:p>
          <a:p>
            <a:r>
              <a:rPr lang="en-US" altLang="en-US" sz="2400" dirty="0"/>
              <a:t>single point of failure</a:t>
            </a:r>
          </a:p>
          <a:p>
            <a:r>
              <a:rPr lang="en-US" altLang="en-US" sz="2400" dirty="0"/>
              <a:t>traffic volume</a:t>
            </a:r>
          </a:p>
          <a:p>
            <a:r>
              <a:rPr lang="en-US" altLang="en-US" sz="2400" dirty="0"/>
              <a:t>distant centralized database</a:t>
            </a:r>
          </a:p>
          <a:p>
            <a:r>
              <a:rPr lang="en-US" altLang="en-US" sz="2400" dirty="0"/>
              <a:t>maintenance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132102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731838" y="1300163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DNS services</a:t>
            </a:r>
          </a:p>
          <a:p>
            <a:r>
              <a:rPr lang="en-US" altLang="en-US" sz="2400"/>
              <a:t>hostname to IP address translation</a:t>
            </a:r>
          </a:p>
          <a:p>
            <a:r>
              <a:rPr lang="en-US" altLang="en-US" sz="2400"/>
              <a:t>host aliasing</a:t>
            </a:r>
          </a:p>
          <a:p>
            <a:pPr lvl="1"/>
            <a:r>
              <a:rPr lang="en-US" altLang="en-US" sz="2000"/>
              <a:t>canonical, alias names</a:t>
            </a:r>
          </a:p>
          <a:p>
            <a:r>
              <a:rPr lang="en-US" altLang="en-US" sz="2400"/>
              <a:t>mail server aliasing</a:t>
            </a:r>
          </a:p>
          <a:p>
            <a:r>
              <a:rPr lang="en-US" altLang="en-US" sz="2400"/>
              <a:t>load distribution</a:t>
            </a:r>
          </a:p>
          <a:p>
            <a:pPr lvl="1"/>
            <a:r>
              <a:rPr lang="en-US" altLang="en-US"/>
              <a:t>replicated Web servers: many IP addresses correspond to one name</a:t>
            </a:r>
          </a:p>
          <a:p>
            <a:endParaRPr lang="en-US" altLang="en-US" sz="2400"/>
          </a:p>
        </p:txBody>
      </p:sp>
      <p:pic>
        <p:nvPicPr>
          <p:cNvPr id="132103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598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5208588" y="3429000"/>
            <a:ext cx="2906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i="1">
                <a:latin typeface="Arial" panose="020B0604020202020204" pitchFamily="34" charset="0"/>
              </a:rPr>
              <a:t>A: </a:t>
            </a:r>
            <a:r>
              <a:rPr lang="en-US" altLang="en-US" i="1">
                <a:solidFill>
                  <a:srgbClr val="CC0000"/>
                </a:solidFill>
                <a:latin typeface="Arial" panose="020B0604020202020204" pitchFamily="34" charset="0"/>
              </a:rPr>
              <a:t>doesn‘t</a:t>
            </a:r>
            <a:r>
              <a:rPr lang="en-US" altLang="ja-JP" i="1">
                <a:solidFill>
                  <a:srgbClr val="CC0000"/>
                </a:solidFill>
                <a:latin typeface="Arial" panose="020B0604020202020204" pitchFamily="34" charset="0"/>
              </a:rPr>
              <a:t> scale!</a:t>
            </a:r>
            <a:endParaRPr lang="en-US" altLang="en-US" i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4147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E2FA1E6B-0593-49D3-AC2F-C39B2B683784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grpSp>
        <p:nvGrpSpPr>
          <p:cNvPr id="134148" name="Group 23"/>
          <p:cNvGrpSpPr>
            <a:grpSpLocks/>
          </p:cNvGrpSpPr>
          <p:nvPr/>
        </p:nvGrpSpPr>
        <p:grpSpPr bwMode="auto">
          <a:xfrm>
            <a:off x="438150" y="1193800"/>
            <a:ext cx="8205788" cy="2444750"/>
            <a:chOff x="230" y="576"/>
            <a:chExt cx="5504" cy="1757"/>
          </a:xfrm>
        </p:grpSpPr>
        <p:sp>
          <p:nvSpPr>
            <p:cNvPr id="134154" name="Text Box 2"/>
            <p:cNvSpPr txBox="1">
              <a:spLocks noChangeArrowheads="1"/>
            </p:cNvSpPr>
            <p:nvPr/>
          </p:nvSpPr>
          <p:spPr bwMode="auto">
            <a:xfrm>
              <a:off x="2256" y="576"/>
              <a:ext cx="138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Root DNS Servers</a:t>
              </a:r>
            </a:p>
          </p:txBody>
        </p:sp>
        <p:sp>
          <p:nvSpPr>
            <p:cNvPr id="134155" name="Text Box 4"/>
            <p:cNvSpPr txBox="1">
              <a:spLocks noChangeArrowheads="1"/>
            </p:cNvSpPr>
            <p:nvPr/>
          </p:nvSpPr>
          <p:spPr bwMode="auto">
            <a:xfrm>
              <a:off x="528" y="1344"/>
              <a:ext cx="132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com DNS servers</a:t>
              </a:r>
            </a:p>
          </p:txBody>
        </p:sp>
        <p:sp>
          <p:nvSpPr>
            <p:cNvPr id="134156" name="Text Box 5"/>
            <p:cNvSpPr txBox="1">
              <a:spLocks noChangeArrowheads="1"/>
            </p:cNvSpPr>
            <p:nvPr/>
          </p:nvSpPr>
          <p:spPr bwMode="auto">
            <a:xfrm>
              <a:off x="2304" y="1296"/>
              <a:ext cx="125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org DNS servers</a:t>
              </a:r>
            </a:p>
          </p:txBody>
        </p:sp>
        <p:sp>
          <p:nvSpPr>
            <p:cNvPr id="134157" name="Text Box 6"/>
            <p:cNvSpPr txBox="1">
              <a:spLocks noChangeArrowheads="1"/>
            </p:cNvSpPr>
            <p:nvPr/>
          </p:nvSpPr>
          <p:spPr bwMode="auto">
            <a:xfrm>
              <a:off x="4032" y="1296"/>
              <a:ext cx="129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edu DNS servers</a:t>
              </a:r>
            </a:p>
          </p:txBody>
        </p:sp>
        <p:sp>
          <p:nvSpPr>
            <p:cNvPr id="134158" name="Line 7"/>
            <p:cNvSpPr>
              <a:spLocks noChangeShapeType="1"/>
            </p:cNvSpPr>
            <p:nvPr/>
          </p:nvSpPr>
          <p:spPr bwMode="auto">
            <a:xfrm flipH="1">
              <a:off x="1344" y="864"/>
              <a:ext cx="1392" cy="4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59" name="Line 8"/>
            <p:cNvSpPr>
              <a:spLocks noChangeShapeType="1"/>
            </p:cNvSpPr>
            <p:nvPr/>
          </p:nvSpPr>
          <p:spPr bwMode="auto">
            <a:xfrm>
              <a:off x="2928" y="816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60" name="Line 9"/>
            <p:cNvSpPr>
              <a:spLocks noChangeShapeType="1"/>
            </p:cNvSpPr>
            <p:nvPr/>
          </p:nvSpPr>
          <p:spPr bwMode="auto">
            <a:xfrm>
              <a:off x="3168" y="864"/>
              <a:ext cx="144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61" name="Text Box 10"/>
            <p:cNvSpPr txBox="1">
              <a:spLocks noChangeArrowheads="1"/>
            </p:cNvSpPr>
            <p:nvPr/>
          </p:nvSpPr>
          <p:spPr bwMode="auto">
            <a:xfrm>
              <a:off x="3878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poly.edu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134162" name="Text Box 11"/>
            <p:cNvSpPr txBox="1">
              <a:spLocks noChangeArrowheads="1"/>
            </p:cNvSpPr>
            <p:nvPr/>
          </p:nvSpPr>
          <p:spPr bwMode="auto">
            <a:xfrm>
              <a:off x="4742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umass.edu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134163" name="Line 12"/>
            <p:cNvSpPr>
              <a:spLocks noChangeShapeType="1"/>
            </p:cNvSpPr>
            <p:nvPr/>
          </p:nvSpPr>
          <p:spPr bwMode="auto">
            <a:xfrm flipH="1">
              <a:off x="4224" y="1536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64" name="Line 13"/>
            <p:cNvSpPr>
              <a:spLocks noChangeShapeType="1"/>
            </p:cNvSpPr>
            <p:nvPr/>
          </p:nvSpPr>
          <p:spPr bwMode="auto">
            <a:xfrm>
              <a:off x="4848" y="1536"/>
              <a:ext cx="288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65" name="Text Box 14"/>
            <p:cNvSpPr txBox="1">
              <a:spLocks noChangeArrowheads="1"/>
            </p:cNvSpPr>
            <p:nvPr/>
          </p:nvSpPr>
          <p:spPr bwMode="auto">
            <a:xfrm>
              <a:off x="230" y="1848"/>
              <a:ext cx="101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yahoo.com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134166" name="Text Box 15"/>
            <p:cNvSpPr txBox="1">
              <a:spLocks noChangeArrowheads="1"/>
            </p:cNvSpPr>
            <p:nvPr/>
          </p:nvSpPr>
          <p:spPr bwMode="auto">
            <a:xfrm>
              <a:off x="1248" y="1872"/>
              <a:ext cx="100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amazon.com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134167" name="Line 16"/>
            <p:cNvSpPr>
              <a:spLocks noChangeShapeType="1"/>
            </p:cNvSpPr>
            <p:nvPr/>
          </p:nvSpPr>
          <p:spPr bwMode="auto">
            <a:xfrm flipH="1">
              <a:off x="768" y="158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68" name="Line 17"/>
            <p:cNvSpPr>
              <a:spLocks noChangeShapeType="1"/>
            </p:cNvSpPr>
            <p:nvPr/>
          </p:nvSpPr>
          <p:spPr bwMode="auto">
            <a:xfrm>
              <a:off x="1392" y="158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4169" name="Text Box 18"/>
            <p:cNvSpPr txBox="1">
              <a:spLocks noChangeArrowheads="1"/>
            </p:cNvSpPr>
            <p:nvPr/>
          </p:nvSpPr>
          <p:spPr bwMode="auto">
            <a:xfrm>
              <a:off x="2534" y="1799"/>
              <a:ext cx="993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pbs.org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DNS servers</a:t>
              </a:r>
            </a:p>
          </p:txBody>
        </p:sp>
        <p:sp>
          <p:nvSpPr>
            <p:cNvPr id="134170" name="Line 19"/>
            <p:cNvSpPr>
              <a:spLocks noChangeShapeType="1"/>
            </p:cNvSpPr>
            <p:nvPr/>
          </p:nvSpPr>
          <p:spPr bwMode="auto">
            <a:xfrm>
              <a:off x="2928" y="153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4149" name="Rectangle 20"/>
          <p:cNvSpPr>
            <a:spLocks noGrp="1" noChangeArrowheads="1"/>
          </p:cNvSpPr>
          <p:nvPr>
            <p:ph type="title"/>
          </p:nvPr>
        </p:nvSpPr>
        <p:spPr>
          <a:xfrm>
            <a:off x="468313" y="161925"/>
            <a:ext cx="8023225" cy="936625"/>
          </a:xfrm>
        </p:spPr>
        <p:txBody>
          <a:bodyPr/>
          <a:lstStyle/>
          <a:p>
            <a:r>
              <a:rPr lang="en-US" altLang="en-US" sz="3600"/>
              <a:t>DNS: a distributed, hierarchical database</a:t>
            </a:r>
          </a:p>
        </p:txBody>
      </p:sp>
      <p:sp>
        <p:nvSpPr>
          <p:cNvPr id="134150" name="Rectangle 22"/>
          <p:cNvSpPr>
            <a:spLocks noGrp="1" noChangeArrowheads="1"/>
          </p:cNvSpPr>
          <p:nvPr>
            <p:ph type="body" sz="half" idx="2"/>
          </p:nvPr>
        </p:nvSpPr>
        <p:spPr>
          <a:xfrm>
            <a:off x="520700" y="3971925"/>
            <a:ext cx="8172450" cy="2133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000099"/>
                </a:solidFill>
              </a:rPr>
              <a:t>client wants IP for www.amazon.com; 1</a:t>
            </a:r>
            <a:r>
              <a:rPr lang="en-US" altLang="en-US" sz="2400" i="1" baseline="30000">
                <a:solidFill>
                  <a:srgbClr val="000099"/>
                </a:solidFill>
              </a:rPr>
              <a:t>st</a:t>
            </a:r>
            <a:r>
              <a:rPr lang="en-US" altLang="en-US" sz="2400" i="1">
                <a:solidFill>
                  <a:srgbClr val="000099"/>
                </a:solidFill>
              </a:rPr>
              <a:t> approximation:</a:t>
            </a:r>
          </a:p>
          <a:p>
            <a:r>
              <a:rPr lang="en-US" altLang="en-US" sz="2200"/>
              <a:t>client queries root server to find com DNS server</a:t>
            </a:r>
          </a:p>
          <a:p>
            <a:r>
              <a:rPr lang="en-US" altLang="en-US" sz="2200"/>
              <a:t>client queries .com DNS server to get amazon.com DNS server</a:t>
            </a:r>
          </a:p>
          <a:p>
            <a:r>
              <a:rPr lang="en-US" altLang="en-US" sz="2200"/>
              <a:t>client queries amazon.com DNS server to get  IP address for www.amazon.com</a:t>
            </a:r>
          </a:p>
        </p:txBody>
      </p:sp>
      <p:pic>
        <p:nvPicPr>
          <p:cNvPr id="134151" name="Picture 28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849313"/>
            <a:ext cx="8043863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52" name="Text Box 29"/>
          <p:cNvSpPr txBox="1">
            <a:spLocks noChangeArrowheads="1"/>
          </p:cNvSpPr>
          <p:nvPr/>
        </p:nvSpPr>
        <p:spPr bwMode="auto">
          <a:xfrm>
            <a:off x="3957638" y="16875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34153" name="Text Box 30"/>
          <p:cNvSpPr txBox="1">
            <a:spLocks noChangeArrowheads="1"/>
          </p:cNvSpPr>
          <p:nvPr/>
        </p:nvSpPr>
        <p:spPr bwMode="auto">
          <a:xfrm>
            <a:off x="4521200" y="16859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6195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3B368AA5-AA54-4525-8236-8254C527B0A8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3619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2250"/>
            <a:ext cx="7772400" cy="882650"/>
          </a:xfrm>
        </p:spPr>
        <p:txBody>
          <a:bodyPr/>
          <a:lstStyle/>
          <a:p>
            <a:r>
              <a:rPr lang="en-US" altLang="en-US" sz="4000"/>
              <a:t>DNS: root name servers</a:t>
            </a:r>
            <a:endParaRPr lang="en-US" altLang="en-US"/>
          </a:p>
        </p:txBody>
      </p:sp>
      <p:sp>
        <p:nvSpPr>
          <p:cNvPr id="1361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188" y="1362075"/>
            <a:ext cx="8478837" cy="4648200"/>
          </a:xfrm>
        </p:spPr>
        <p:txBody>
          <a:bodyPr/>
          <a:lstStyle/>
          <a:p>
            <a:r>
              <a:rPr lang="en-US" altLang="en-US" sz="2400"/>
              <a:t>contacted by local name server that can not resolve name</a:t>
            </a:r>
          </a:p>
          <a:p>
            <a:r>
              <a:rPr lang="en-US" altLang="en-US" sz="2400"/>
              <a:t>root name server:</a:t>
            </a:r>
          </a:p>
          <a:p>
            <a:pPr lvl="1"/>
            <a:r>
              <a:rPr lang="en-US" altLang="en-US" sz="2200"/>
              <a:t>contacts authoritative name server if name mapping not known</a:t>
            </a:r>
          </a:p>
          <a:p>
            <a:pPr lvl="1"/>
            <a:r>
              <a:rPr lang="en-US" altLang="en-US" sz="2200"/>
              <a:t>gets mapping</a:t>
            </a:r>
          </a:p>
          <a:p>
            <a:pPr lvl="1"/>
            <a:r>
              <a:rPr lang="en-US" altLang="en-US" sz="2200"/>
              <a:t>returns mapping to local name server</a:t>
            </a:r>
          </a:p>
        </p:txBody>
      </p:sp>
      <p:sp>
        <p:nvSpPr>
          <p:cNvPr id="136198" name="Rectangle 20"/>
          <p:cNvSpPr>
            <a:spLocks noChangeArrowheads="1"/>
          </p:cNvSpPr>
          <p:nvPr/>
        </p:nvSpPr>
        <p:spPr bwMode="auto">
          <a:xfrm>
            <a:off x="6096000" y="4992688"/>
            <a:ext cx="2957513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000" i="1">
                <a:latin typeface="Arial" panose="020B0604020202020204" pitchFamily="34" charset="0"/>
              </a:rPr>
              <a:t> 13 logical root name </a:t>
            </a:r>
            <a:r>
              <a:rPr lang="ja-JP" altLang="en-US" sz="2000" i="1">
                <a:latin typeface="Arial" panose="020B0604020202020204" pitchFamily="34" charset="0"/>
              </a:rPr>
              <a:t>“</a:t>
            </a:r>
            <a:r>
              <a:rPr lang="en-US" altLang="ja-JP" sz="2000" i="1">
                <a:latin typeface="Arial" panose="020B0604020202020204" pitchFamily="34" charset="0"/>
              </a:rPr>
              <a:t>servers</a:t>
            </a:r>
            <a:r>
              <a:rPr lang="ja-JP" altLang="en-US" sz="2000" i="1">
                <a:latin typeface="Arial" panose="020B0604020202020204" pitchFamily="34" charset="0"/>
              </a:rPr>
              <a:t>”</a:t>
            </a:r>
            <a:r>
              <a:rPr lang="en-US" altLang="ja-JP" sz="2000" i="1">
                <a:latin typeface="Arial" panose="020B0604020202020204" pitchFamily="34" charset="0"/>
              </a:rPr>
              <a:t> worldwide</a:t>
            </a:r>
          </a:p>
          <a:p>
            <a:pPr>
              <a:buClr>
                <a:srgbClr val="000090"/>
              </a:buClr>
              <a:buFont typeface="Arial" panose="020B0604020202020204" pitchFamily="34" charset="0"/>
              <a:buChar char="•"/>
            </a:pPr>
            <a:r>
              <a:rPr lang="en-US" altLang="ja-JP" sz="1800" i="1">
                <a:latin typeface="Arial" panose="020B0604020202020204" pitchFamily="34" charset="0"/>
              </a:rPr>
              <a:t>each “server” replicated many times</a:t>
            </a:r>
          </a:p>
        </p:txBody>
      </p:sp>
      <p:sp>
        <p:nvSpPr>
          <p:cNvPr id="136199" name="AutoShape 22"/>
          <p:cNvSpPr>
            <a:spLocks noChangeAspect="1" noChangeArrowheads="1"/>
          </p:cNvSpPr>
          <p:nvPr/>
        </p:nvSpPr>
        <p:spPr bwMode="auto">
          <a:xfrm>
            <a:off x="481013" y="3581400"/>
            <a:ext cx="5784850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pic>
        <p:nvPicPr>
          <p:cNvPr id="136200" name="Picture 23" descr="world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4378325"/>
            <a:ext cx="4319587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201" name="Text Box 25"/>
          <p:cNvSpPr txBox="1">
            <a:spLocks noChangeArrowheads="1"/>
          </p:cNvSpPr>
          <p:nvPr/>
        </p:nvSpPr>
        <p:spPr bwMode="auto">
          <a:xfrm>
            <a:off x="207963" y="5160963"/>
            <a:ext cx="2090737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a. Verisign, Los Angeles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    (5 other sites)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b. USC-ISI Marina del Rey,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l. ICANN Los Angeles,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   (41 other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36202" name="Freeform 26"/>
          <p:cNvSpPr>
            <a:spLocks/>
          </p:cNvSpPr>
          <p:nvPr/>
        </p:nvSpPr>
        <p:spPr bwMode="auto">
          <a:xfrm>
            <a:off x="1757363" y="5113338"/>
            <a:ext cx="531812" cy="341312"/>
          </a:xfrm>
          <a:custGeom>
            <a:avLst/>
            <a:gdLst>
              <a:gd name="T0" fmla="*/ 0 w 582"/>
              <a:gd name="T1" fmla="*/ 2147483646 h 426"/>
              <a:gd name="T2" fmla="*/ 2147483646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6203" name="Text Box 27"/>
          <p:cNvSpPr txBox="1">
            <a:spLocks noChangeArrowheads="1"/>
          </p:cNvSpPr>
          <p:nvPr/>
        </p:nvSpPr>
        <p:spPr bwMode="auto">
          <a:xfrm>
            <a:off x="204788" y="4333875"/>
            <a:ext cx="1949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e. NASA Mt View,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f. Internet Software C.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Palo Alto, CA (and 48 other  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36204" name="Freeform 28"/>
          <p:cNvSpPr>
            <a:spLocks/>
          </p:cNvSpPr>
          <p:nvPr/>
        </p:nvSpPr>
        <p:spPr bwMode="auto">
          <a:xfrm flipV="1">
            <a:off x="1423988" y="4868863"/>
            <a:ext cx="817562" cy="184150"/>
          </a:xfrm>
          <a:custGeom>
            <a:avLst/>
            <a:gdLst>
              <a:gd name="T0" fmla="*/ 0 w 582"/>
              <a:gd name="T1" fmla="*/ 2147483646 h 426"/>
              <a:gd name="T2" fmla="*/ 2147483646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6205" name="Text Box 29"/>
          <p:cNvSpPr txBox="1">
            <a:spLocks noChangeArrowheads="1"/>
          </p:cNvSpPr>
          <p:nvPr/>
        </p:nvSpPr>
        <p:spPr bwMode="auto">
          <a:xfrm>
            <a:off x="4297363" y="3973513"/>
            <a:ext cx="2278062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i. Netnod, Stockholm (37 other sites)</a:t>
            </a:r>
          </a:p>
        </p:txBody>
      </p:sp>
      <p:sp>
        <p:nvSpPr>
          <p:cNvPr id="136206" name="Freeform 30"/>
          <p:cNvSpPr>
            <a:spLocks/>
          </p:cNvSpPr>
          <p:nvPr/>
        </p:nvSpPr>
        <p:spPr bwMode="auto">
          <a:xfrm>
            <a:off x="3932238" y="4068763"/>
            <a:ext cx="446087" cy="654050"/>
          </a:xfrm>
          <a:custGeom>
            <a:avLst/>
            <a:gdLst>
              <a:gd name="T0" fmla="*/ 2147483646 w 666"/>
              <a:gd name="T1" fmla="*/ 0 h 1005"/>
              <a:gd name="T2" fmla="*/ 0 w 666"/>
              <a:gd name="T3" fmla="*/ 2147483646 h 1005"/>
              <a:gd name="T4" fmla="*/ 0 60000 65536"/>
              <a:gd name="T5" fmla="*/ 0 60000 65536"/>
              <a:gd name="T6" fmla="*/ 0 w 666"/>
              <a:gd name="T7" fmla="*/ 0 h 1005"/>
              <a:gd name="T8" fmla="*/ 666 w 666"/>
              <a:gd name="T9" fmla="*/ 1005 h 100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6" h="1005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6207" name="Text Box 31"/>
          <p:cNvSpPr txBox="1">
            <a:spLocks noChangeArrowheads="1"/>
          </p:cNvSpPr>
          <p:nvPr/>
        </p:nvSpPr>
        <p:spPr bwMode="auto">
          <a:xfrm>
            <a:off x="4333875" y="3684588"/>
            <a:ext cx="25193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k. RIPE London (17 other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36208" name="Freeform 32"/>
          <p:cNvSpPr>
            <a:spLocks/>
          </p:cNvSpPr>
          <p:nvPr/>
        </p:nvSpPr>
        <p:spPr bwMode="auto">
          <a:xfrm>
            <a:off x="3751263" y="3862388"/>
            <a:ext cx="615950" cy="946150"/>
          </a:xfrm>
          <a:custGeom>
            <a:avLst/>
            <a:gdLst>
              <a:gd name="T0" fmla="*/ 2147483646 w 922"/>
              <a:gd name="T1" fmla="*/ 0 h 1448"/>
              <a:gd name="T2" fmla="*/ 0 w 922"/>
              <a:gd name="T3" fmla="*/ 2147483646 h 1448"/>
              <a:gd name="T4" fmla="*/ 0 60000 65536"/>
              <a:gd name="T5" fmla="*/ 0 60000 65536"/>
              <a:gd name="T6" fmla="*/ 0 w 922"/>
              <a:gd name="T7" fmla="*/ 0 h 1448"/>
              <a:gd name="T8" fmla="*/ 922 w 922"/>
              <a:gd name="T9" fmla="*/ 1448 h 14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22" h="1448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6209" name="Text Box 33"/>
          <p:cNvSpPr txBox="1">
            <a:spLocks noChangeArrowheads="1"/>
          </p:cNvSpPr>
          <p:nvPr/>
        </p:nvSpPr>
        <p:spPr bwMode="auto">
          <a:xfrm>
            <a:off x="5911850" y="4303713"/>
            <a:ext cx="1766888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m. WIDE Tokyo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(5 other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36210" name="Freeform 34"/>
          <p:cNvSpPr>
            <a:spLocks/>
          </p:cNvSpPr>
          <p:nvPr/>
        </p:nvSpPr>
        <p:spPr bwMode="auto">
          <a:xfrm>
            <a:off x="5575300" y="4598988"/>
            <a:ext cx="400050" cy="431800"/>
          </a:xfrm>
          <a:custGeom>
            <a:avLst/>
            <a:gdLst>
              <a:gd name="T0" fmla="*/ 2147483646 w 252"/>
              <a:gd name="T1" fmla="*/ 0 h 462"/>
              <a:gd name="T2" fmla="*/ 0 w 252"/>
              <a:gd name="T3" fmla="*/ 2147483646 h 462"/>
              <a:gd name="T4" fmla="*/ 0 60000 65536"/>
              <a:gd name="T5" fmla="*/ 0 60000 65536"/>
              <a:gd name="T6" fmla="*/ 0 w 252"/>
              <a:gd name="T7" fmla="*/ 0 h 462"/>
              <a:gd name="T8" fmla="*/ 252 w 252"/>
              <a:gd name="T9" fmla="*/ 462 h 4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46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6211" name="Text Box 35"/>
          <p:cNvSpPr txBox="1">
            <a:spLocks noChangeArrowheads="1"/>
          </p:cNvSpPr>
          <p:nvPr/>
        </p:nvSpPr>
        <p:spPr bwMode="auto">
          <a:xfrm>
            <a:off x="1597025" y="3541713"/>
            <a:ext cx="259873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c. Cogent, Herndon, VA (5 other sites)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d. U Maryland College Park, MD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h. ARL Aberdeen, MD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j. Verisign, Dulles VA (69 other sites 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36212" name="Picture 24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84238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6213" name="Straight Arrow Connector 2"/>
          <p:cNvCxnSpPr>
            <a:cxnSpLocks noChangeShapeType="1"/>
          </p:cNvCxnSpPr>
          <p:nvPr/>
        </p:nvCxnSpPr>
        <p:spPr bwMode="auto">
          <a:xfrm flipH="1">
            <a:off x="2878138" y="4278313"/>
            <a:ext cx="7937" cy="690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6214" name="Text Box 35"/>
          <p:cNvSpPr txBox="1">
            <a:spLocks noChangeArrowheads="1"/>
          </p:cNvSpPr>
          <p:nvPr/>
        </p:nvSpPr>
        <p:spPr bwMode="auto">
          <a:xfrm>
            <a:off x="1550988" y="5889625"/>
            <a:ext cx="147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  <a:latin typeface="Arial" panose="020B0604020202020204" pitchFamily="34" charset="0"/>
              </a:rPr>
              <a:t>g. US DoD Columbus, OH (5 other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136215" name="Straight Arrow Connector 24"/>
          <p:cNvCxnSpPr>
            <a:cxnSpLocks noChangeShapeType="1"/>
            <a:stCxn id="136214" idx="0"/>
          </p:cNvCxnSpPr>
          <p:nvPr/>
        </p:nvCxnSpPr>
        <p:spPr bwMode="auto">
          <a:xfrm flipV="1">
            <a:off x="2286000" y="4945063"/>
            <a:ext cx="481013" cy="944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38243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11DAAEB6-085E-43A7-96D9-BCD50B8C3875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3824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34950"/>
            <a:ext cx="7772400" cy="914400"/>
          </a:xfrm>
        </p:spPr>
        <p:txBody>
          <a:bodyPr/>
          <a:lstStyle/>
          <a:p>
            <a:r>
              <a:rPr lang="en-US" altLang="en-US"/>
              <a:t>TLD, authoritative servers</a:t>
            </a:r>
          </a:p>
        </p:txBody>
      </p:sp>
      <p:sp>
        <p:nvSpPr>
          <p:cNvPr id="138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8764" y="1493520"/>
            <a:ext cx="8367395" cy="387096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000099"/>
                </a:solidFill>
              </a:rPr>
              <a:t>top-level domain (TLD) servers:</a:t>
            </a:r>
          </a:p>
          <a:p>
            <a:pPr lvl="1"/>
            <a:r>
              <a:rPr lang="en-US" altLang="en-US" dirty="0"/>
              <a:t>responsible for com, org, net, </a:t>
            </a:r>
            <a:r>
              <a:rPr lang="en-US" altLang="en-US" dirty="0" err="1"/>
              <a:t>edu</a:t>
            </a:r>
            <a:r>
              <a:rPr lang="en-US" altLang="en-US" dirty="0"/>
              <a:t>, aero, jobs, museums, and all top-level country domains, e.g.: </a:t>
            </a:r>
            <a:r>
              <a:rPr lang="en-US" altLang="en-US" dirty="0" err="1"/>
              <a:t>uk</a:t>
            </a:r>
            <a:r>
              <a:rPr lang="en-US" altLang="en-US" dirty="0"/>
              <a:t>, </a:t>
            </a:r>
            <a:r>
              <a:rPr lang="en-US" altLang="en-US" dirty="0" err="1"/>
              <a:t>fr</a:t>
            </a:r>
            <a:r>
              <a:rPr lang="en-US" altLang="en-US" dirty="0"/>
              <a:t>, ca, </a:t>
            </a:r>
            <a:r>
              <a:rPr lang="en-US" altLang="en-US" dirty="0" err="1"/>
              <a:t>jp</a:t>
            </a:r>
            <a:endParaRPr lang="en-US" alt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000099"/>
                </a:solidFill>
              </a:rPr>
              <a:t>authoritative DNS servers: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organization</a:t>
            </a:r>
            <a:r>
              <a:rPr lang="ja-JP" altLang="en-US" dirty="0"/>
              <a:t>’</a:t>
            </a:r>
            <a:r>
              <a:rPr lang="en-US" altLang="ja-JP" dirty="0"/>
              <a:t>s own DNS server(s), providing authoritative hostname to IP mappings for organization</a:t>
            </a:r>
            <a:r>
              <a:rPr lang="ja-JP" altLang="en-US" dirty="0"/>
              <a:t>’</a:t>
            </a:r>
            <a:r>
              <a:rPr lang="en-US" altLang="ja-JP" dirty="0"/>
              <a:t>s named hosts </a:t>
            </a:r>
          </a:p>
          <a:p>
            <a:pPr lvl="1"/>
            <a:r>
              <a:rPr lang="en-US" altLang="en-US" dirty="0"/>
              <a:t>can be maintained by organization or service provider</a:t>
            </a:r>
          </a:p>
          <a:p>
            <a:pPr lvl="1"/>
            <a:endParaRPr lang="en-US" altLang="en-US" dirty="0"/>
          </a:p>
        </p:txBody>
      </p:sp>
      <p:pic>
        <p:nvPicPr>
          <p:cNvPr id="138246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9445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0291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C63DA412-7E81-41C7-AF4D-D3D4827D7935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4029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36538"/>
            <a:ext cx="7772400" cy="957262"/>
          </a:xfrm>
        </p:spPr>
        <p:txBody>
          <a:bodyPr/>
          <a:lstStyle/>
          <a:p>
            <a:r>
              <a:rPr lang="en-US" altLang="en-US"/>
              <a:t>Local </a:t>
            </a:r>
            <a:r>
              <a:rPr lang="en-US" altLang="en-US" sz="4000"/>
              <a:t>DNS</a:t>
            </a:r>
            <a:r>
              <a:rPr lang="en-US" altLang="en-US"/>
              <a:t> name server</a:t>
            </a:r>
          </a:p>
        </p:txBody>
      </p:sp>
      <p:sp>
        <p:nvSpPr>
          <p:cNvPr id="140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does not strictly belong to hierarchy</a:t>
            </a:r>
          </a:p>
          <a:p>
            <a:r>
              <a:rPr lang="en-US" altLang="en-US"/>
              <a:t>each ISP (residential ISP, company, university) has one</a:t>
            </a:r>
          </a:p>
          <a:p>
            <a:pPr lvl="1"/>
            <a:r>
              <a:rPr lang="en-US" altLang="en-US"/>
              <a:t>also called </a:t>
            </a:r>
            <a:r>
              <a:rPr lang="ja-JP" altLang="en-US"/>
              <a:t>“</a:t>
            </a:r>
            <a:r>
              <a:rPr lang="en-US" altLang="ja-JP"/>
              <a:t>default name server</a:t>
            </a:r>
            <a:r>
              <a:rPr lang="ja-JP" altLang="en-US"/>
              <a:t>”</a:t>
            </a:r>
            <a:endParaRPr lang="en-US" altLang="ja-JP"/>
          </a:p>
          <a:p>
            <a:r>
              <a:rPr lang="en-US" altLang="en-US"/>
              <a:t>when host makes DNS query, query is sent to its local DNS server</a:t>
            </a:r>
          </a:p>
          <a:p>
            <a:pPr lvl="1"/>
            <a:r>
              <a:rPr lang="en-US" altLang="en-US"/>
              <a:t>has local cache of recent name-to-address translation pairs (but may be out of date!)</a:t>
            </a:r>
          </a:p>
          <a:p>
            <a:pPr lvl="1"/>
            <a:r>
              <a:rPr lang="en-US" altLang="en-US"/>
              <a:t>acts as proxy, forwards query into hierarchy</a:t>
            </a:r>
          </a:p>
          <a:p>
            <a:pPr lvl="1"/>
            <a:endParaRPr lang="en-US" altLang="en-US"/>
          </a:p>
        </p:txBody>
      </p:sp>
      <p:pic>
        <p:nvPicPr>
          <p:cNvPr id="140294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969963"/>
            <a:ext cx="5548312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2339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40269E20-B715-41C6-93D6-1497659AF27E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142340" name="Picture 7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4206875" y="4881563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requesting host</a:t>
            </a:r>
            <a:endParaRPr lang="en-US" altLang="en-US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solidFill>
                  <a:srgbClr val="000099"/>
                </a:solidFill>
                <a:latin typeface="Arial" panose="020B0604020202020204" pitchFamily="34" charset="0"/>
              </a:rPr>
              <a:t>cis.poly.edu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6683375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latin typeface="Arial" panose="020B0604020202020204" pitchFamily="34" charset="0"/>
              </a:rPr>
              <a:t>gaia.cs.umass.edu</a:t>
            </a:r>
          </a:p>
        </p:txBody>
      </p:sp>
      <p:sp>
        <p:nvSpPr>
          <p:cNvPr id="142343" name="Text Box 17"/>
          <p:cNvSpPr txBox="1">
            <a:spLocks noChangeArrowheads="1"/>
          </p:cNvSpPr>
          <p:nvPr/>
        </p:nvSpPr>
        <p:spPr bwMode="auto">
          <a:xfrm>
            <a:off x="5791200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root DNS server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 flipH="1" flipV="1">
            <a:off x="5286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 flipV="1">
            <a:off x="5400675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2" name="Line 20"/>
          <p:cNvSpPr>
            <a:spLocks noChangeShapeType="1"/>
          </p:cNvSpPr>
          <p:nvPr/>
        </p:nvSpPr>
        <p:spPr bwMode="auto">
          <a:xfrm flipV="1">
            <a:off x="5686425" y="2382838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 flipH="1" flipV="1">
            <a:off x="5686425" y="2554288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4" name="Line 22"/>
          <p:cNvSpPr>
            <a:spLocks noChangeShapeType="1"/>
          </p:cNvSpPr>
          <p:nvPr/>
        </p:nvSpPr>
        <p:spPr bwMode="auto">
          <a:xfrm flipH="1">
            <a:off x="5610225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2775" name="Line 23"/>
          <p:cNvSpPr>
            <a:spLocks noChangeShapeType="1"/>
          </p:cNvSpPr>
          <p:nvPr/>
        </p:nvSpPr>
        <p:spPr bwMode="auto">
          <a:xfrm>
            <a:off x="5476875" y="2933700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350" name="Group 24"/>
          <p:cNvGrpSpPr>
            <a:grpSpLocks/>
          </p:cNvGrpSpPr>
          <p:nvPr/>
        </p:nvGrpSpPr>
        <p:grpSpPr bwMode="auto">
          <a:xfrm>
            <a:off x="4179888" y="3062288"/>
            <a:ext cx="1898650" cy="611187"/>
            <a:chOff x="2831" y="2132"/>
            <a:chExt cx="1196" cy="385"/>
          </a:xfrm>
        </p:grpSpPr>
        <p:sp>
          <p:nvSpPr>
            <p:cNvPr id="142504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42505" name="Text Box 26"/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local DNS server</a:t>
              </a:r>
              <a:endParaRPr lang="en-US" altLang="en-US" sz="24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000099"/>
                  </a:solidFill>
                  <a:latin typeface="Arial" panose="020B0604020202020204" pitchFamily="34" charset="0"/>
                </a:rPr>
                <a:t>dns.poly.edu</a:t>
              </a:r>
            </a:p>
          </p:txBody>
        </p:sp>
      </p:grp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4997450" y="3771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5540375" y="1438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1" name="Text Box 29"/>
          <p:cNvSpPr txBox="1">
            <a:spLocks noChangeArrowheads="1"/>
          </p:cNvSpPr>
          <p:nvPr/>
        </p:nvSpPr>
        <p:spPr bwMode="auto">
          <a:xfrm>
            <a:off x="5978525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3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2" name="Text Box 30"/>
          <p:cNvSpPr txBox="1">
            <a:spLocks noChangeArrowheads="1"/>
          </p:cNvSpPr>
          <p:nvPr/>
        </p:nvSpPr>
        <p:spPr bwMode="auto">
          <a:xfrm>
            <a:off x="6292850" y="20859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4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6323013" y="2573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5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6919913" y="3613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6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2357" name="Text Box 60"/>
          <p:cNvSpPr txBox="1">
            <a:spLocks noChangeArrowheads="1"/>
          </p:cNvSpPr>
          <p:nvPr/>
        </p:nvSpPr>
        <p:spPr bwMode="auto">
          <a:xfrm>
            <a:off x="6353175" y="4429125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authoritative DNS server</a:t>
            </a:r>
            <a:endParaRPr lang="en-US" altLang="en-US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dns.cs.umass.edu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202813" name="Text Box 61"/>
          <p:cNvSpPr txBox="1">
            <a:spLocks noChangeArrowheads="1"/>
          </p:cNvSpPr>
          <p:nvPr/>
        </p:nvSpPr>
        <p:spPr bwMode="auto">
          <a:xfrm>
            <a:off x="6292850" y="36433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7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814" name="Text Box 62"/>
          <p:cNvSpPr txBox="1">
            <a:spLocks noChangeArrowheads="1"/>
          </p:cNvSpPr>
          <p:nvPr/>
        </p:nvSpPr>
        <p:spPr bwMode="auto">
          <a:xfrm>
            <a:off x="5549900" y="37909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8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2815" name="Line 63"/>
          <p:cNvSpPr>
            <a:spLocks noChangeShapeType="1"/>
          </p:cNvSpPr>
          <p:nvPr/>
        </p:nvSpPr>
        <p:spPr bwMode="auto">
          <a:xfrm>
            <a:off x="5619750" y="2714625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2816" name="Line 64"/>
          <p:cNvSpPr>
            <a:spLocks noChangeShapeType="1"/>
          </p:cNvSpPr>
          <p:nvPr/>
        </p:nvSpPr>
        <p:spPr bwMode="auto">
          <a:xfrm flipH="1" flipV="1">
            <a:off x="5580063" y="2840038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2362" name="Text Box 65"/>
          <p:cNvSpPr txBox="1">
            <a:spLocks noChangeArrowheads="1"/>
          </p:cNvSpPr>
          <p:nvPr/>
        </p:nvSpPr>
        <p:spPr bwMode="auto">
          <a:xfrm>
            <a:off x="6551613" y="1852613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TLD DNS server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42363" name="Rectangle 66"/>
          <p:cNvSpPr>
            <a:spLocks noGrp="1" noChangeArrowheads="1"/>
          </p:cNvSpPr>
          <p:nvPr>
            <p:ph type="title"/>
          </p:nvPr>
        </p:nvSpPr>
        <p:spPr>
          <a:xfrm>
            <a:off x="533400" y="217488"/>
            <a:ext cx="4910138" cy="11430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4000"/>
              <a:t>DNS name </a:t>
            </a:r>
            <a:br>
              <a:rPr lang="en-US" altLang="en-US" sz="4000"/>
            </a:br>
            <a:r>
              <a:rPr lang="en-US" altLang="en-US" sz="4000"/>
              <a:t>resolution example</a:t>
            </a:r>
          </a:p>
        </p:txBody>
      </p:sp>
      <p:sp>
        <p:nvSpPr>
          <p:cNvPr id="142364" name="Rectangle 67"/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725613"/>
            <a:ext cx="3565525" cy="4648200"/>
          </a:xfrm>
        </p:spPr>
        <p:txBody>
          <a:bodyPr/>
          <a:lstStyle/>
          <a:p>
            <a:r>
              <a:rPr lang="en-US" altLang="en-US" sz="2400"/>
              <a:t>host at cis.poly.edu wants IP address for gaia.cs.umass.edu</a:t>
            </a:r>
          </a:p>
        </p:txBody>
      </p:sp>
      <p:sp>
        <p:nvSpPr>
          <p:cNvPr id="142365" name="Rectangle 69"/>
          <p:cNvSpPr>
            <a:spLocks noChangeArrowheads="1"/>
          </p:cNvSpPr>
          <p:nvPr/>
        </p:nvSpPr>
        <p:spPr bwMode="auto">
          <a:xfrm>
            <a:off x="582613" y="3094038"/>
            <a:ext cx="3478212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iterated query:</a:t>
            </a:r>
          </a:p>
          <a:p>
            <a:r>
              <a:rPr lang="en-US" altLang="en-US" sz="2400"/>
              <a:t>contacted server replies with name of server to contact</a:t>
            </a:r>
          </a:p>
          <a:p>
            <a:r>
              <a:rPr lang="ja-JP" altLang="en-US" sz="2400"/>
              <a:t>“</a:t>
            </a:r>
            <a:r>
              <a:rPr lang="en-US" altLang="ja-JP" sz="2400"/>
              <a:t>I don</a:t>
            </a:r>
            <a:r>
              <a:rPr lang="ja-JP" altLang="en-US" sz="2400"/>
              <a:t>’</a:t>
            </a:r>
            <a:r>
              <a:rPr lang="en-US" altLang="ja-JP" sz="2400"/>
              <a:t>t know this name, but ask this server</a:t>
            </a:r>
            <a:r>
              <a:rPr lang="ja-JP" altLang="en-US" sz="2400"/>
              <a:t>”</a:t>
            </a:r>
            <a:endParaRPr lang="en-US" altLang="en-US" sz="2400"/>
          </a:p>
        </p:txBody>
      </p:sp>
      <p:grpSp>
        <p:nvGrpSpPr>
          <p:cNvPr id="142366" name="Group 86"/>
          <p:cNvGrpSpPr>
            <a:grpSpLocks/>
          </p:cNvGrpSpPr>
          <p:nvPr/>
        </p:nvGrpSpPr>
        <p:grpSpPr bwMode="auto">
          <a:xfrm flipH="1">
            <a:off x="7226300" y="5091113"/>
            <a:ext cx="925513" cy="795337"/>
            <a:chOff x="-44" y="1473"/>
            <a:chExt cx="981" cy="1105"/>
          </a:xfrm>
        </p:grpSpPr>
        <p:pic>
          <p:nvPicPr>
            <p:cNvPr id="142502" name="Picture 8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503" name="Freeform 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42367" name="Group 89"/>
          <p:cNvGrpSpPr>
            <a:grpSpLocks/>
          </p:cNvGrpSpPr>
          <p:nvPr/>
        </p:nvGrpSpPr>
        <p:grpSpPr bwMode="auto">
          <a:xfrm>
            <a:off x="4765675" y="4244975"/>
            <a:ext cx="925513" cy="795338"/>
            <a:chOff x="-44" y="1473"/>
            <a:chExt cx="981" cy="1105"/>
          </a:xfrm>
        </p:grpSpPr>
        <p:pic>
          <p:nvPicPr>
            <p:cNvPr id="142500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501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42368" name="Group 125"/>
          <p:cNvGrpSpPr>
            <a:grpSpLocks/>
          </p:cNvGrpSpPr>
          <p:nvPr/>
        </p:nvGrpSpPr>
        <p:grpSpPr bwMode="auto">
          <a:xfrm>
            <a:off x="7226300" y="3743325"/>
            <a:ext cx="390525" cy="641350"/>
            <a:chOff x="4140" y="429"/>
            <a:chExt cx="1425" cy="2396"/>
          </a:xfrm>
        </p:grpSpPr>
        <p:sp>
          <p:nvSpPr>
            <p:cNvPr id="142468" name="Freeform 12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69" name="Rectangle 12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70" name="Freeform 12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71" name="Freeform 12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72" name="Rectangle 13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73" name="Group 13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2498" name="AutoShape 13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99" name="AutoShape 133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74" name="Rectangle 13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75" name="Group 13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2496" name="AutoShape 13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97" name="AutoShape 13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76" name="Rectangle 13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77" name="Rectangle 13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78" name="Group 14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2494" name="AutoShape 14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95" name="AutoShape 1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79" name="Freeform 14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2480" name="Group 14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2492" name="AutoShape 14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93" name="AutoShape 146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81" name="Rectangle 14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82" name="Freeform 14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83" name="Freeform 14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84" name="Oval 15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85" name="Freeform 15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86" name="AutoShape 15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87" name="AutoShape 15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88" name="Oval 15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89" name="Oval 15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90" name="Oval 15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91" name="Rectangle 15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42369" name="Group 158"/>
          <p:cNvGrpSpPr>
            <a:grpSpLocks/>
          </p:cNvGrpSpPr>
          <p:nvPr/>
        </p:nvGrpSpPr>
        <p:grpSpPr bwMode="auto">
          <a:xfrm>
            <a:off x="5222875" y="2230438"/>
            <a:ext cx="390525" cy="641350"/>
            <a:chOff x="4140" y="429"/>
            <a:chExt cx="1425" cy="2396"/>
          </a:xfrm>
        </p:grpSpPr>
        <p:sp>
          <p:nvSpPr>
            <p:cNvPr id="142436" name="Freeform 15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37" name="Rectangle 160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38" name="Freeform 16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39" name="Freeform 16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40" name="Rectangle 163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41" name="Group 16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2466" name="AutoShape 16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67" name="AutoShape 166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42" name="Rectangle 167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43" name="Group 16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2464" name="AutoShape 169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65" name="AutoShape 170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44" name="Rectangle 171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45" name="Rectangle 172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46" name="Group 17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2462" name="AutoShape 17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63" name="AutoShape 17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47" name="Freeform 17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2448" name="Group 17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2460" name="AutoShape 178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61" name="AutoShape 179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49" name="Rectangle 180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50" name="Freeform 18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51" name="Freeform 18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52" name="Oval 183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53" name="Freeform 18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54" name="AutoShape 185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55" name="AutoShape 186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56" name="Oval 187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57" name="Oval 188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58" name="Oval 189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59" name="Rectangle 190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42370" name="Group 224"/>
          <p:cNvGrpSpPr>
            <a:grpSpLocks/>
          </p:cNvGrpSpPr>
          <p:nvPr/>
        </p:nvGrpSpPr>
        <p:grpSpPr bwMode="auto">
          <a:xfrm>
            <a:off x="6376988" y="968375"/>
            <a:ext cx="390525" cy="641350"/>
            <a:chOff x="4140" y="429"/>
            <a:chExt cx="1425" cy="2396"/>
          </a:xfrm>
        </p:grpSpPr>
        <p:sp>
          <p:nvSpPr>
            <p:cNvPr id="142404" name="Freeform 22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05" name="Rectangle 226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06" name="Freeform 22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07" name="Freeform 22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08" name="Rectangle 229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09" name="Group 23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2434" name="AutoShape 23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35" name="AutoShape 23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10" name="Rectangle 233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11" name="Group 23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2432" name="AutoShape 235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33" name="AutoShape 236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12" name="Rectangle 237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13" name="Rectangle 238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414" name="Group 23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2430" name="AutoShape 24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31" name="AutoShape 24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15" name="Freeform 24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2416" name="Group 24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2428" name="AutoShape 244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29" name="AutoShape 245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417" name="Rectangle 246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18" name="Freeform 24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19" name="Freeform 24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20" name="Oval 249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21" name="Freeform 25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422" name="AutoShape 251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23" name="AutoShape 252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24" name="Oval 253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25" name="Oval 254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26" name="Oval 255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427" name="Rectangle 256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42371" name="Group 257"/>
          <p:cNvGrpSpPr>
            <a:grpSpLocks/>
          </p:cNvGrpSpPr>
          <p:nvPr/>
        </p:nvGrpSpPr>
        <p:grpSpPr bwMode="auto">
          <a:xfrm>
            <a:off x="7192963" y="2220913"/>
            <a:ext cx="390525" cy="641350"/>
            <a:chOff x="4140" y="429"/>
            <a:chExt cx="1425" cy="2396"/>
          </a:xfrm>
        </p:grpSpPr>
        <p:sp>
          <p:nvSpPr>
            <p:cNvPr id="142372" name="Freeform 2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373" name="Rectangle 259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374" name="Freeform 2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375" name="Freeform 2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376" name="Rectangle 262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377" name="Group 2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2402" name="AutoShape 26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03" name="AutoShape 265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78" name="Rectangle 266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379" name="Group 2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2400" name="AutoShape 268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401" name="AutoShape 26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80" name="Rectangle 270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381" name="Rectangle 271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2382" name="Group 2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2398" name="AutoShape 27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399" name="AutoShape 274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83" name="Freeform 2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2384" name="Group 2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2396" name="AutoShape 277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2397" name="AutoShape 278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2385" name="Rectangle 279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386" name="Freeform 2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387" name="Freeform 2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388" name="Oval 282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389" name="Freeform 2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390" name="AutoShape 28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391" name="AutoShape 285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392" name="Oval 286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393" name="Oval 287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94" name="Oval 288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2395" name="Rectangle 289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9" grpId="0"/>
      <p:bldP spid="202780" grpId="0"/>
      <p:bldP spid="202781" grpId="0"/>
      <p:bldP spid="202782" grpId="0"/>
      <p:bldP spid="202783" grpId="0"/>
      <p:bldP spid="202784" grpId="0"/>
      <p:bldP spid="202813" grpId="0"/>
      <p:bldP spid="2028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4387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9CCC2F2C-BDC5-4175-A79A-1510466337C1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44388" name="Text Box 24"/>
          <p:cNvSpPr txBox="1">
            <a:spLocks noChangeArrowheads="1"/>
          </p:cNvSpPr>
          <p:nvPr/>
        </p:nvSpPr>
        <p:spPr bwMode="auto">
          <a:xfrm>
            <a:off x="7462838" y="32575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4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4389" name="Text Box 25"/>
          <p:cNvSpPr txBox="1">
            <a:spLocks noChangeArrowheads="1"/>
          </p:cNvSpPr>
          <p:nvPr/>
        </p:nvSpPr>
        <p:spPr bwMode="auto">
          <a:xfrm>
            <a:off x="7005638" y="33337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5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4390" name="Text Box 26"/>
          <p:cNvSpPr txBox="1">
            <a:spLocks noChangeArrowheads="1"/>
          </p:cNvSpPr>
          <p:nvPr/>
        </p:nvSpPr>
        <p:spPr bwMode="auto">
          <a:xfrm>
            <a:off x="6724650" y="1817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6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4391" name="Line 60"/>
          <p:cNvSpPr>
            <a:spLocks noChangeShapeType="1"/>
          </p:cNvSpPr>
          <p:nvPr/>
        </p:nvSpPr>
        <p:spPr bwMode="auto">
          <a:xfrm>
            <a:off x="7440613" y="2941638"/>
            <a:ext cx="0" cy="67468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4392" name="Line 61"/>
          <p:cNvSpPr>
            <a:spLocks noChangeShapeType="1"/>
          </p:cNvSpPr>
          <p:nvPr/>
        </p:nvSpPr>
        <p:spPr bwMode="auto">
          <a:xfrm flipH="1" flipV="1">
            <a:off x="7319963" y="2952750"/>
            <a:ext cx="0" cy="7191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4393" name="Line 62"/>
          <p:cNvSpPr>
            <a:spLocks noChangeShapeType="1"/>
          </p:cNvSpPr>
          <p:nvPr/>
        </p:nvSpPr>
        <p:spPr bwMode="auto">
          <a:xfrm flipH="1" flipV="1">
            <a:off x="6799263" y="1541463"/>
            <a:ext cx="458787" cy="5667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4394" name="Text Box 63"/>
          <p:cNvSpPr txBox="1">
            <a:spLocks noChangeArrowheads="1"/>
          </p:cNvSpPr>
          <p:nvPr/>
        </p:nvSpPr>
        <p:spPr bwMode="auto">
          <a:xfrm>
            <a:off x="7143750" y="1390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3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4395" name="Rectangle 67"/>
          <p:cNvSpPr>
            <a:spLocks noChangeArrowheads="1"/>
          </p:cNvSpPr>
          <p:nvPr/>
        </p:nvSpPr>
        <p:spPr bwMode="auto">
          <a:xfrm>
            <a:off x="468313" y="1687513"/>
            <a:ext cx="3162300" cy="231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recursive query</a:t>
            </a:r>
            <a:r>
              <a:rPr lang="en-US" altLang="en-US" i="1">
                <a:solidFill>
                  <a:srgbClr val="CC0000"/>
                </a:solidFill>
                <a:latin typeface="Comic Sans MS" panose="030F0702030302020204" pitchFamily="66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en-US" sz="2400"/>
              <a:t>puts burden of name resolution on contacted name server</a:t>
            </a:r>
          </a:p>
          <a:p>
            <a:pPr>
              <a:lnSpc>
                <a:spcPct val="100000"/>
              </a:lnSpc>
            </a:pPr>
            <a:r>
              <a:rPr lang="en-US" altLang="en-US" sz="2400"/>
              <a:t>heavy load at upper levels of hierarchy?</a:t>
            </a:r>
          </a:p>
        </p:txBody>
      </p:sp>
      <p:sp>
        <p:nvSpPr>
          <p:cNvPr id="144396" name="Text Box 5"/>
          <p:cNvSpPr txBox="1">
            <a:spLocks noChangeArrowheads="1"/>
          </p:cNvSpPr>
          <p:nvPr/>
        </p:nvSpPr>
        <p:spPr bwMode="auto">
          <a:xfrm>
            <a:off x="4206875" y="4881563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requesting host</a:t>
            </a:r>
            <a:endParaRPr lang="en-US" altLang="en-US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solidFill>
                  <a:srgbClr val="000099"/>
                </a:solidFill>
                <a:latin typeface="Arial" panose="020B0604020202020204" pitchFamily="34" charset="0"/>
              </a:rPr>
              <a:t>cis.poly.edu</a:t>
            </a:r>
          </a:p>
        </p:txBody>
      </p:sp>
      <p:sp>
        <p:nvSpPr>
          <p:cNvPr id="144397" name="Text Box 6"/>
          <p:cNvSpPr txBox="1">
            <a:spLocks noChangeArrowheads="1"/>
          </p:cNvSpPr>
          <p:nvPr/>
        </p:nvSpPr>
        <p:spPr bwMode="auto">
          <a:xfrm>
            <a:off x="6683375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latin typeface="Arial" panose="020B0604020202020204" pitchFamily="34" charset="0"/>
              </a:rPr>
              <a:t>gaia.cs.umass.edu</a:t>
            </a:r>
          </a:p>
        </p:txBody>
      </p:sp>
      <p:sp>
        <p:nvSpPr>
          <p:cNvPr id="144398" name="Text Box 17"/>
          <p:cNvSpPr txBox="1">
            <a:spLocks noChangeArrowheads="1"/>
          </p:cNvSpPr>
          <p:nvPr/>
        </p:nvSpPr>
        <p:spPr bwMode="auto">
          <a:xfrm>
            <a:off x="5791200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root DNS server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44399" name="Line 18"/>
          <p:cNvSpPr>
            <a:spLocks noChangeShapeType="1"/>
          </p:cNvSpPr>
          <p:nvPr/>
        </p:nvSpPr>
        <p:spPr bwMode="auto">
          <a:xfrm flipH="1" flipV="1">
            <a:off x="5286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4400" name="Line 19"/>
          <p:cNvSpPr>
            <a:spLocks noChangeShapeType="1"/>
          </p:cNvSpPr>
          <p:nvPr/>
        </p:nvSpPr>
        <p:spPr bwMode="auto">
          <a:xfrm flipV="1">
            <a:off x="5391150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4401" name="Line 22"/>
          <p:cNvSpPr>
            <a:spLocks noChangeShapeType="1"/>
          </p:cNvSpPr>
          <p:nvPr/>
        </p:nvSpPr>
        <p:spPr bwMode="auto">
          <a:xfrm flipH="1">
            <a:off x="5619750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4402" name="Line 23"/>
          <p:cNvSpPr>
            <a:spLocks noChangeShapeType="1"/>
          </p:cNvSpPr>
          <p:nvPr/>
        </p:nvSpPr>
        <p:spPr bwMode="auto">
          <a:xfrm>
            <a:off x="5476875" y="2944813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4403" name="Group 24"/>
          <p:cNvGrpSpPr>
            <a:grpSpLocks/>
          </p:cNvGrpSpPr>
          <p:nvPr/>
        </p:nvGrpSpPr>
        <p:grpSpPr bwMode="auto">
          <a:xfrm>
            <a:off x="4179888" y="3062288"/>
            <a:ext cx="1898650" cy="611187"/>
            <a:chOff x="2831" y="2132"/>
            <a:chExt cx="1196" cy="385"/>
          </a:xfrm>
        </p:grpSpPr>
        <p:sp>
          <p:nvSpPr>
            <p:cNvPr id="144551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44552" name="Text Box 26"/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local DNS server</a:t>
              </a:r>
              <a:endParaRPr lang="en-US" altLang="en-US" sz="2400">
                <a:latin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000099"/>
                  </a:solidFill>
                  <a:latin typeface="Arial" panose="020B0604020202020204" pitchFamily="34" charset="0"/>
                </a:rPr>
                <a:t>dns.poly.edu</a:t>
              </a:r>
            </a:p>
          </p:txBody>
        </p:sp>
      </p:grpSp>
      <p:sp>
        <p:nvSpPr>
          <p:cNvPr id="144404" name="Text Box 27"/>
          <p:cNvSpPr txBox="1">
            <a:spLocks noChangeArrowheads="1"/>
          </p:cNvSpPr>
          <p:nvPr/>
        </p:nvSpPr>
        <p:spPr bwMode="auto">
          <a:xfrm>
            <a:off x="4997450" y="37719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4405" name="Text Box 28"/>
          <p:cNvSpPr txBox="1">
            <a:spLocks noChangeArrowheads="1"/>
          </p:cNvSpPr>
          <p:nvPr/>
        </p:nvSpPr>
        <p:spPr bwMode="auto">
          <a:xfrm>
            <a:off x="5540375" y="1438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4406" name="Text Box 29"/>
          <p:cNvSpPr txBox="1">
            <a:spLocks noChangeArrowheads="1"/>
          </p:cNvSpPr>
          <p:nvPr/>
        </p:nvSpPr>
        <p:spPr bwMode="auto">
          <a:xfrm>
            <a:off x="5978525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7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4407" name="Text Box 60"/>
          <p:cNvSpPr txBox="1">
            <a:spLocks noChangeArrowheads="1"/>
          </p:cNvSpPr>
          <p:nvPr/>
        </p:nvSpPr>
        <p:spPr bwMode="auto">
          <a:xfrm>
            <a:off x="6353175" y="4429125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authoritative DNS server</a:t>
            </a:r>
            <a:endParaRPr lang="en-US" altLang="en-US" sz="2400">
              <a:latin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dns.cs.umass.edu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44408" name="Text Box 62"/>
          <p:cNvSpPr txBox="1">
            <a:spLocks noChangeArrowheads="1"/>
          </p:cNvSpPr>
          <p:nvPr/>
        </p:nvSpPr>
        <p:spPr bwMode="auto">
          <a:xfrm>
            <a:off x="5549900" y="37814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Arial" panose="020B0604020202020204" pitchFamily="34" charset="0"/>
              </a:rPr>
              <a:t>8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44409" name="Line 62"/>
          <p:cNvSpPr>
            <a:spLocks noChangeShapeType="1"/>
          </p:cNvSpPr>
          <p:nvPr/>
        </p:nvSpPr>
        <p:spPr bwMode="auto">
          <a:xfrm flipH="1" flipV="1">
            <a:off x="6853238" y="1333500"/>
            <a:ext cx="600075" cy="7413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44410" name="Picture 13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87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411" name="Rectangle 66"/>
          <p:cNvSpPr>
            <a:spLocks noChangeArrowheads="1"/>
          </p:cNvSpPr>
          <p:nvPr/>
        </p:nvSpPr>
        <p:spPr bwMode="auto">
          <a:xfrm>
            <a:off x="533400" y="217488"/>
            <a:ext cx="49101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rgbClr val="000099"/>
                </a:solidFill>
              </a:rPr>
              <a:t>DNS name </a:t>
            </a:r>
            <a:br>
              <a:rPr lang="en-US" altLang="en-US" sz="4000">
                <a:solidFill>
                  <a:srgbClr val="000099"/>
                </a:solidFill>
              </a:rPr>
            </a:br>
            <a:r>
              <a:rPr lang="en-US" altLang="en-US" sz="4000">
                <a:solidFill>
                  <a:srgbClr val="000099"/>
                </a:solidFill>
              </a:rPr>
              <a:t>resolution example</a:t>
            </a:r>
          </a:p>
        </p:txBody>
      </p:sp>
      <p:sp>
        <p:nvSpPr>
          <p:cNvPr id="144412" name="Text Box 65"/>
          <p:cNvSpPr txBox="1">
            <a:spLocks noChangeArrowheads="1"/>
          </p:cNvSpPr>
          <p:nvPr/>
        </p:nvSpPr>
        <p:spPr bwMode="auto">
          <a:xfrm>
            <a:off x="7600950" y="2287588"/>
            <a:ext cx="1325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TLD DNS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server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grpSp>
        <p:nvGrpSpPr>
          <p:cNvPr id="144413" name="Group 140"/>
          <p:cNvGrpSpPr>
            <a:grpSpLocks/>
          </p:cNvGrpSpPr>
          <p:nvPr/>
        </p:nvGrpSpPr>
        <p:grpSpPr bwMode="auto">
          <a:xfrm flipH="1">
            <a:off x="7226300" y="5091113"/>
            <a:ext cx="925513" cy="795337"/>
            <a:chOff x="-44" y="1473"/>
            <a:chExt cx="981" cy="1105"/>
          </a:xfrm>
        </p:grpSpPr>
        <p:pic>
          <p:nvPicPr>
            <p:cNvPr id="144549" name="Picture 14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550" name="Freeform 14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44414" name="Group 143"/>
          <p:cNvGrpSpPr>
            <a:grpSpLocks/>
          </p:cNvGrpSpPr>
          <p:nvPr/>
        </p:nvGrpSpPr>
        <p:grpSpPr bwMode="auto">
          <a:xfrm>
            <a:off x="4765675" y="4244975"/>
            <a:ext cx="925513" cy="795338"/>
            <a:chOff x="-44" y="1473"/>
            <a:chExt cx="981" cy="1105"/>
          </a:xfrm>
        </p:grpSpPr>
        <p:pic>
          <p:nvPicPr>
            <p:cNvPr id="144547" name="Picture 144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548" name="Freeform 14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44415" name="Group 146"/>
          <p:cNvGrpSpPr>
            <a:grpSpLocks/>
          </p:cNvGrpSpPr>
          <p:nvPr/>
        </p:nvGrpSpPr>
        <p:grpSpPr bwMode="auto">
          <a:xfrm>
            <a:off x="7226300" y="3743325"/>
            <a:ext cx="390525" cy="641350"/>
            <a:chOff x="4140" y="429"/>
            <a:chExt cx="1425" cy="2396"/>
          </a:xfrm>
        </p:grpSpPr>
        <p:sp>
          <p:nvSpPr>
            <p:cNvPr id="144515" name="Freeform 14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16" name="Rectangle 148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17" name="Freeform 14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18" name="Freeform 15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19" name="Rectangle 151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520" name="Group 15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4545" name="AutoShape 153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546" name="AutoShape 154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521" name="Rectangle 155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522" name="Group 15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4543" name="AutoShape 15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544" name="AutoShape 15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523" name="Rectangle 159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24" name="Rectangle 160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525" name="Group 16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4541" name="AutoShape 16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542" name="AutoShape 163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526" name="Freeform 16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4527" name="Group 16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4539" name="AutoShape 166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540" name="AutoShape 167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528" name="Rectangle 168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29" name="Freeform 16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30" name="Freeform 17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31" name="Oval 171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32" name="Freeform 17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33" name="AutoShape 173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34" name="AutoShape 174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35" name="Oval 175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36" name="Oval 176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37" name="Oval 177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38" name="Rectangle 178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44416" name="Group 212"/>
          <p:cNvGrpSpPr>
            <a:grpSpLocks/>
          </p:cNvGrpSpPr>
          <p:nvPr/>
        </p:nvGrpSpPr>
        <p:grpSpPr bwMode="auto">
          <a:xfrm>
            <a:off x="5222875" y="2230438"/>
            <a:ext cx="390525" cy="641350"/>
            <a:chOff x="4140" y="429"/>
            <a:chExt cx="1425" cy="2396"/>
          </a:xfrm>
        </p:grpSpPr>
        <p:sp>
          <p:nvSpPr>
            <p:cNvPr id="144483" name="Freeform 213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84" name="Rectangle 214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85" name="Freeform 215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86" name="Freeform 216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87" name="Rectangle 217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88" name="Group 218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4513" name="AutoShape 219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514" name="AutoShape 220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89" name="Rectangle 221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90" name="Group 222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4511" name="AutoShape 223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512" name="AutoShape 224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91" name="Rectangle 225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92" name="Rectangle 226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93" name="Group 227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4509" name="AutoShape 228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510" name="AutoShape 229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94" name="Freeform 230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4495" name="Group 231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4507" name="AutoShape 232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508" name="AutoShape 233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96" name="Rectangle 234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97" name="Freeform 235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98" name="Freeform 236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99" name="Oval 237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00" name="Freeform 238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501" name="AutoShape 239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02" name="AutoShape 240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03" name="Oval 241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04" name="Oval 242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05" name="Oval 243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506" name="Rectangle 244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44417" name="Group 245"/>
          <p:cNvGrpSpPr>
            <a:grpSpLocks/>
          </p:cNvGrpSpPr>
          <p:nvPr/>
        </p:nvGrpSpPr>
        <p:grpSpPr bwMode="auto">
          <a:xfrm>
            <a:off x="6376988" y="968375"/>
            <a:ext cx="390525" cy="641350"/>
            <a:chOff x="4140" y="429"/>
            <a:chExt cx="1425" cy="2396"/>
          </a:xfrm>
        </p:grpSpPr>
        <p:sp>
          <p:nvSpPr>
            <p:cNvPr id="144451" name="Freeform 24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52" name="Rectangle 24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53" name="Freeform 24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54" name="Freeform 24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55" name="Rectangle 25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56" name="Group 25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4481" name="AutoShape 25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482" name="AutoShape 253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57" name="Rectangle 25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58" name="Group 25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4479" name="AutoShape 25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480" name="AutoShape 25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59" name="Rectangle 25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60" name="Rectangle 25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61" name="Group 26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4477" name="AutoShape 26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478" name="AutoShape 26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62" name="Freeform 26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4463" name="Group 26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4475" name="AutoShape 26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476" name="AutoShape 266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64" name="Rectangle 26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65" name="Freeform 26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66" name="Freeform 26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67" name="Oval 27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68" name="Freeform 27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69" name="AutoShape 27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70" name="AutoShape 27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71" name="Oval 27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72" name="Oval 27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73" name="Oval 27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74" name="Rectangle 27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44418" name="Group 311"/>
          <p:cNvGrpSpPr>
            <a:grpSpLocks/>
          </p:cNvGrpSpPr>
          <p:nvPr/>
        </p:nvGrpSpPr>
        <p:grpSpPr bwMode="auto">
          <a:xfrm>
            <a:off x="7192963" y="2220913"/>
            <a:ext cx="390525" cy="641350"/>
            <a:chOff x="4140" y="429"/>
            <a:chExt cx="1425" cy="2396"/>
          </a:xfrm>
        </p:grpSpPr>
        <p:sp>
          <p:nvSpPr>
            <p:cNvPr id="144419" name="Freeform 31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20" name="Rectangle 313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21" name="Freeform 31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22" name="Freeform 31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23" name="Rectangle 316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24" name="Group 31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4449" name="AutoShape 31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450" name="AutoShape 319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25" name="Rectangle 320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26" name="Group 32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4447" name="AutoShape 322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448" name="AutoShape 323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27" name="Rectangle 324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28" name="Rectangle 325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144429" name="Group 32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4445" name="AutoShape 327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446" name="AutoShape 328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30" name="Freeform 32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4431" name="Group 33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4443" name="AutoShape 331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4444" name="AutoShape 332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4432" name="Rectangle 333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33" name="Freeform 33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34" name="Freeform 33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35" name="Oval 336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36" name="Freeform 33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37" name="AutoShape 338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38" name="AutoShape 339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39" name="Oval 340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40" name="Oval 341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41" name="Oval 342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4442" name="Rectangle 343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6435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A90F6604-6E13-4364-BFA0-8AB8C46E63D9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146436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8620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46050"/>
            <a:ext cx="7772400" cy="969963"/>
          </a:xfrm>
        </p:spPr>
        <p:txBody>
          <a:bodyPr/>
          <a:lstStyle/>
          <a:p>
            <a:r>
              <a:rPr lang="en-US" altLang="en-US" sz="4000"/>
              <a:t>DNS: caching, updating records</a:t>
            </a:r>
          </a:p>
        </p:txBody>
      </p:sp>
      <p:sp>
        <p:nvSpPr>
          <p:cNvPr id="14643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2285" y="1539118"/>
            <a:ext cx="7926388" cy="4733925"/>
          </a:xfrm>
        </p:spPr>
        <p:txBody>
          <a:bodyPr/>
          <a:lstStyle/>
          <a:p>
            <a:r>
              <a:rPr lang="en-US" altLang="en-US" dirty="0"/>
              <a:t>once (any) name server learns mapping, it </a:t>
            </a:r>
            <a:r>
              <a:rPr lang="en-US" altLang="en-US" i="1" dirty="0">
                <a:solidFill>
                  <a:srgbClr val="000099"/>
                </a:solidFill>
              </a:rPr>
              <a:t>caches</a:t>
            </a:r>
            <a:r>
              <a:rPr lang="en-US" altLang="en-US" dirty="0"/>
              <a:t> mapping</a:t>
            </a:r>
          </a:p>
          <a:p>
            <a:pPr lvl="1"/>
            <a:r>
              <a:rPr lang="en-US" altLang="en-US" dirty="0"/>
              <a:t>cache entries timeout (disappear) after some time (TTL)</a:t>
            </a:r>
          </a:p>
          <a:p>
            <a:pPr lvl="1"/>
            <a:r>
              <a:rPr lang="en-US" altLang="en-US" dirty="0"/>
              <a:t>TLD servers typically cached in local name servers</a:t>
            </a:r>
          </a:p>
          <a:p>
            <a:pPr lvl="2"/>
            <a:r>
              <a:rPr lang="en-US" altLang="en-US" dirty="0">
                <a:latin typeface="Gill Sans MT" panose="020B0502020104020203" pitchFamily="34" charset="0"/>
              </a:rPr>
              <a:t>thus root name servers not often visited</a:t>
            </a:r>
            <a:endParaRPr lang="en-US" altLang="en-US" dirty="0"/>
          </a:p>
          <a:p>
            <a:r>
              <a:rPr lang="en-US" altLang="en-US" dirty="0"/>
              <a:t>cached entries may be </a:t>
            </a:r>
            <a:r>
              <a:rPr lang="en-US" altLang="en-US" i="1" dirty="0">
                <a:solidFill>
                  <a:srgbClr val="CC0000"/>
                </a:solidFill>
              </a:rPr>
              <a:t>out-of-date</a:t>
            </a:r>
            <a:r>
              <a:rPr lang="en-US" altLang="en-US" dirty="0"/>
              <a:t> (best effort name-to-address translation!)</a:t>
            </a:r>
          </a:p>
          <a:p>
            <a:pPr lvl="1"/>
            <a:r>
              <a:rPr lang="en-US" altLang="en-US" dirty="0"/>
              <a:t>if name host changes IP address, may not be known Internet-wide until all TTLs expire</a:t>
            </a:r>
          </a:p>
          <a:p>
            <a:r>
              <a:rPr lang="en-US" altLang="en-US" dirty="0"/>
              <a:t>update/notify mechanisms proposed IETF standard</a:t>
            </a:r>
          </a:p>
          <a:p>
            <a:pPr lvl="1"/>
            <a:r>
              <a:rPr lang="en-US" altLang="en-US" dirty="0"/>
              <a:t>RFC 2136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5576888" y="6467475"/>
            <a:ext cx="2895600" cy="287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48483" name="Rectangle 8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23038FD9-A2F8-40B7-927C-E3CEBE24ECE2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4848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201613"/>
            <a:ext cx="7772400" cy="892175"/>
          </a:xfrm>
        </p:spPr>
        <p:txBody>
          <a:bodyPr/>
          <a:lstStyle/>
          <a:p>
            <a:r>
              <a:rPr lang="en-US" altLang="en-US" sz="4000"/>
              <a:t>DNS records</a:t>
            </a:r>
            <a:endParaRPr lang="en-US" altLang="en-US"/>
          </a:p>
        </p:txBody>
      </p:sp>
      <p:sp>
        <p:nvSpPr>
          <p:cNvPr id="14848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2925" y="1343025"/>
            <a:ext cx="7820025" cy="5143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rgbClr val="CC0000"/>
                </a:solidFill>
              </a:rPr>
              <a:t>DNS:</a:t>
            </a:r>
            <a:r>
              <a:rPr lang="en-US" altLang="en-US" sz="2400"/>
              <a:t> distributed database storing resource records </a:t>
            </a:r>
            <a:r>
              <a:rPr lang="en-US" altLang="en-US">
                <a:solidFill>
                  <a:srgbClr val="CC0000"/>
                </a:solidFill>
              </a:rPr>
              <a:t>(RR)</a:t>
            </a:r>
          </a:p>
        </p:txBody>
      </p:sp>
      <p:sp>
        <p:nvSpPr>
          <p:cNvPr id="14848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3897313"/>
            <a:ext cx="3514725" cy="190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u="sng">
                <a:solidFill>
                  <a:srgbClr val="CC0000"/>
                </a:solidFill>
              </a:rPr>
              <a:t>type=NS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name</a:t>
            </a:r>
            <a:r>
              <a:rPr lang="en-US" altLang="en-US" sz="2000"/>
              <a:t> is domain (e.g., foo.com)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value</a:t>
            </a:r>
            <a:r>
              <a:rPr lang="en-US" altLang="en-US" sz="2000"/>
              <a:t> is hostname of authoritative name server for this domain</a:t>
            </a:r>
          </a:p>
          <a:p>
            <a:endParaRPr lang="en-US" altLang="en-US" sz="2400"/>
          </a:p>
        </p:txBody>
      </p:sp>
      <p:sp>
        <p:nvSpPr>
          <p:cNvPr id="148487" name="Text Box 6"/>
          <p:cNvSpPr txBox="1">
            <a:spLocks noChangeArrowheads="1"/>
          </p:cNvSpPr>
          <p:nvPr/>
        </p:nvSpPr>
        <p:spPr bwMode="auto">
          <a:xfrm>
            <a:off x="1795463" y="1908175"/>
            <a:ext cx="5364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RR format:</a:t>
            </a:r>
            <a:r>
              <a:rPr lang="en-US" altLang="en-US" sz="2400">
                <a:latin typeface="Comic Sans MS" panose="030F0702030302020204" pitchFamily="66" charset="0"/>
              </a:rPr>
              <a:t> </a:t>
            </a:r>
            <a:r>
              <a:rPr lang="en-US" altLang="en-US" sz="1800" b="1">
                <a:latin typeface="Courier New" panose="02070309020205020404" pitchFamily="49" charset="0"/>
              </a:rPr>
              <a:t>(name, value, type, ttl)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48488" name="Rectangle 7"/>
          <p:cNvSpPr>
            <a:spLocks noChangeArrowheads="1"/>
          </p:cNvSpPr>
          <p:nvPr/>
        </p:nvSpPr>
        <p:spPr bwMode="auto">
          <a:xfrm>
            <a:off x="1876425" y="1895475"/>
            <a:ext cx="5267325" cy="5715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9" name="Rectangle 8"/>
          <p:cNvSpPr>
            <a:spLocks noChangeArrowheads="1"/>
          </p:cNvSpPr>
          <p:nvPr/>
        </p:nvSpPr>
        <p:spPr bwMode="auto">
          <a:xfrm>
            <a:off x="523875" y="2657475"/>
            <a:ext cx="3810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SzPct val="75000"/>
              <a:buFont typeface="Wingdings" panose="05000000000000000000" pitchFamily="2" charset="2"/>
              <a:buNone/>
            </a:pPr>
            <a:r>
              <a:rPr lang="en-US" altLang="en-US" u="sng" dirty="0">
                <a:solidFill>
                  <a:srgbClr val="CC0000"/>
                </a:solidFill>
              </a:rPr>
              <a:t>type=A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Courier New" panose="02070309020205020404" pitchFamily="49" charset="0"/>
              </a:rPr>
              <a:t>name</a:t>
            </a:r>
            <a:r>
              <a:rPr lang="en-US" altLang="en-US" sz="2000" dirty="0">
                <a:latin typeface="Comic Sans MS" panose="030F0702030302020204" pitchFamily="66" charset="0"/>
              </a:rPr>
              <a:t> </a:t>
            </a:r>
            <a:r>
              <a:rPr lang="en-US" altLang="en-US" sz="2000" dirty="0"/>
              <a:t>is hostname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000" b="1" dirty="0">
                <a:latin typeface="Courier New" panose="02070309020205020404" pitchFamily="49" charset="0"/>
              </a:rPr>
              <a:t>value</a:t>
            </a:r>
            <a:r>
              <a:rPr lang="en-US" altLang="en-US" sz="2000" dirty="0">
                <a:latin typeface="Comic Sans MS" panose="030F0702030302020204" pitchFamily="66" charset="0"/>
              </a:rPr>
              <a:t> </a:t>
            </a:r>
            <a:r>
              <a:rPr lang="en-US" altLang="en-US" sz="2000" dirty="0"/>
              <a:t>is IP address</a:t>
            </a:r>
          </a:p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Char char="r"/>
            </a:pPr>
            <a:endParaRPr lang="en-US" altLang="en-US" sz="2400" dirty="0"/>
          </a:p>
        </p:txBody>
      </p:sp>
      <p:sp>
        <p:nvSpPr>
          <p:cNvPr id="148490" name="Rectangle 9"/>
          <p:cNvSpPr>
            <a:spLocks noChangeArrowheads="1"/>
          </p:cNvSpPr>
          <p:nvPr/>
        </p:nvSpPr>
        <p:spPr bwMode="auto">
          <a:xfrm>
            <a:off x="4229100" y="2697163"/>
            <a:ext cx="45148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u="sng">
                <a:solidFill>
                  <a:srgbClr val="CC0000"/>
                </a:solidFill>
              </a:rPr>
              <a:t>type=CNAME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latin typeface="Courier New" panose="02070309020205020404" pitchFamily="49" charset="0"/>
              </a:rPr>
              <a:t>name</a:t>
            </a:r>
            <a:r>
              <a:rPr lang="en-US" altLang="en-US" sz="2000">
                <a:latin typeface="Comic Sans MS" panose="030F0702030302020204" pitchFamily="66" charset="0"/>
              </a:rPr>
              <a:t> is </a:t>
            </a:r>
            <a:r>
              <a:rPr lang="en-US" altLang="en-US" sz="2000"/>
              <a:t>alias name for some </a:t>
            </a:r>
            <a:r>
              <a:rPr lang="ja-JP" altLang="en-US" sz="2000"/>
              <a:t>“</a:t>
            </a:r>
            <a:r>
              <a:rPr lang="en-US" altLang="ja-JP" sz="2000"/>
              <a:t>canonical</a:t>
            </a:r>
            <a:r>
              <a:rPr lang="ja-JP" altLang="en-US" sz="2000"/>
              <a:t>”</a:t>
            </a:r>
            <a:r>
              <a:rPr lang="en-US" altLang="ja-JP" sz="2000"/>
              <a:t> (the real) name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1800" b="1">
                <a:latin typeface="Courier New" panose="02070309020205020404" pitchFamily="49" charset="0"/>
              </a:rPr>
              <a:t>www.ibm.com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  <a:r>
              <a:rPr lang="en-US" altLang="en-US" sz="2000"/>
              <a:t>is really</a:t>
            </a:r>
            <a:endParaRPr lang="en-US" altLang="en-US" sz="180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  </a:t>
            </a:r>
            <a:r>
              <a:rPr lang="en-US" altLang="en-US" sz="1800" b="1">
                <a:latin typeface="Courier New" panose="02070309020205020404" pitchFamily="49" charset="0"/>
              </a:rPr>
              <a:t>servereast.backup2.ibm.com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latin typeface="Courier New" panose="02070309020205020404" pitchFamily="49" charset="0"/>
              </a:rPr>
              <a:t>value</a:t>
            </a:r>
            <a:r>
              <a:rPr lang="en-US" altLang="en-US" sz="2000">
                <a:latin typeface="Comic Sans MS" panose="030F0702030302020204" pitchFamily="66" charset="0"/>
              </a:rPr>
              <a:t> </a:t>
            </a:r>
            <a:r>
              <a:rPr lang="en-US" altLang="en-US" sz="2000"/>
              <a:t>is canonical name</a:t>
            </a:r>
          </a:p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Char char="r"/>
            </a:pPr>
            <a:endParaRPr lang="en-US" altLang="en-US" sz="2400"/>
          </a:p>
        </p:txBody>
      </p:sp>
      <p:sp>
        <p:nvSpPr>
          <p:cNvPr id="148491" name="Rectangle 10"/>
          <p:cNvSpPr>
            <a:spLocks noChangeArrowheads="1"/>
          </p:cNvSpPr>
          <p:nvPr/>
        </p:nvSpPr>
        <p:spPr bwMode="auto">
          <a:xfrm>
            <a:off x="4252913" y="5022850"/>
            <a:ext cx="4408487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u="sng">
                <a:solidFill>
                  <a:srgbClr val="CC0000"/>
                </a:solidFill>
              </a:rPr>
              <a:t>type=MX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latin typeface="Courier New" panose="02070309020205020404" pitchFamily="49" charset="0"/>
              </a:rPr>
              <a:t>value</a:t>
            </a:r>
            <a:r>
              <a:rPr lang="en-US" altLang="en-US" sz="2000">
                <a:latin typeface="Comic Sans MS" panose="030F0702030302020204" pitchFamily="66" charset="0"/>
              </a:rPr>
              <a:t> </a:t>
            </a:r>
            <a:r>
              <a:rPr lang="en-US" altLang="en-US" sz="2000"/>
              <a:t>is name of mailserver associated with</a:t>
            </a:r>
            <a:r>
              <a:rPr lang="en-US" altLang="en-US" sz="2000">
                <a:latin typeface="Comic Sans MS" panose="030F0702030302020204" pitchFamily="66" charset="0"/>
              </a:rPr>
              <a:t> </a:t>
            </a:r>
            <a:r>
              <a:rPr lang="en-US" altLang="en-US" sz="2000" b="1">
                <a:latin typeface="Courier New" panose="02070309020205020404" pitchFamily="49" charset="0"/>
              </a:rPr>
              <a:t>name</a:t>
            </a:r>
            <a:endParaRPr lang="en-US" altLang="en-US" sz="2000">
              <a:latin typeface="Comic Sans MS" panose="030F0702030302020204" pitchFamily="66" charset="0"/>
            </a:endParaRPr>
          </a:p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charset="2"/>
              <a:buChar char="r"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pic>
        <p:nvPicPr>
          <p:cNvPr id="148492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881063"/>
            <a:ext cx="3198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16021</TotalTime>
  <Words>1020</Words>
  <Application>Microsoft Macintosh PowerPoint</Application>
  <PresentationFormat>On-screen Show (4:3)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Comic Sans MS</vt:lpstr>
      <vt:lpstr>Courier New</vt:lpstr>
      <vt:lpstr>Gill Sans MT</vt:lpstr>
      <vt:lpstr>Tahoma</vt:lpstr>
      <vt:lpstr>Times New Roman</vt:lpstr>
      <vt:lpstr>Wingdings</vt:lpstr>
      <vt:lpstr>ZapfDingbats</vt:lpstr>
      <vt:lpstr>Default Design</vt:lpstr>
      <vt:lpstr>PowerPoint Presentation</vt:lpstr>
      <vt:lpstr>DNS: domain name system</vt:lpstr>
      <vt:lpstr>DNS: services, structure </vt:lpstr>
      <vt:lpstr>DNS: a distributed, hierarchical database</vt:lpstr>
      <vt:lpstr>DNS: root name servers</vt:lpstr>
      <vt:lpstr>TLD, authoritative servers</vt:lpstr>
      <vt:lpstr>Local DNS name server</vt:lpstr>
      <vt:lpstr>DNS name  resolution example</vt:lpstr>
      <vt:lpstr>PowerPoint Presentation</vt:lpstr>
      <vt:lpstr>DNS: caching, updating records</vt:lpstr>
      <vt:lpstr>DNS records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2</dc:title>
  <dc:creator>Jim Kurose and Keith Ross</dc:creator>
  <cp:lastModifiedBy>Shakeel Ahmad</cp:lastModifiedBy>
  <cp:revision>404</cp:revision>
  <cp:lastPrinted>2011-09-19T12:20:55Z</cp:lastPrinted>
  <dcterms:created xsi:type="dcterms:W3CDTF">1999-10-08T19:08:27Z</dcterms:created>
  <dcterms:modified xsi:type="dcterms:W3CDTF">2021-10-24T19:54:04Z</dcterms:modified>
</cp:coreProperties>
</file>