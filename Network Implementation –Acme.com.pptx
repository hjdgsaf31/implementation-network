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61" r:id="rId3"/>
    <p:sldId id="260" r:id="rId4"/>
    <p:sldId id="268" r:id="rId5"/>
    <p:sldId id="269" r:id="rId6"/>
    <p:sldId id="271" r:id="rId7"/>
    <p:sldId id="272" r:id="rId8"/>
    <p:sldId id="270" r:id="rId9"/>
    <p:sldId id="259" r:id="rId10"/>
    <p:sldId id="266" r:id="rId11"/>
    <p:sldId id="258" r:id="rId12"/>
    <p:sldId id="273" r:id="rId13"/>
    <p:sldId id="264" r:id="rId14"/>
    <p:sldId id="26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101" autoAdjust="0"/>
  </p:normalViewPr>
  <p:slideViewPr>
    <p:cSldViewPr snapToGrid="0">
      <p:cViewPr varScale="1">
        <p:scale>
          <a:sx n="83" d="100"/>
          <a:sy n="83" d="100"/>
        </p:scale>
        <p:origin x="16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58C553-BA62-446A-8A28-21B883BC2E0A}" type="datetimeFigureOut">
              <a:rPr lang="en-GB" smtClean="0"/>
              <a:t>15/11/2024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95508E-A94C-4FB6-90C0-03AA61D041C5}" type="slidenum">
              <a:rPr lang="en-GB" smtClean="0"/>
              <a:t>‹#›</a:t>
            </a:fld>
            <a:endParaRPr lang="en-GB"/>
          </a:p>
        </p:txBody>
      </p:sp>
    </p:spTree>
    <p:extLst>
      <p:ext uri="{BB962C8B-B14F-4D97-AF65-F5344CB8AC3E}">
        <p14:creationId xmlns:p14="http://schemas.microsoft.com/office/powerpoint/2010/main" val="36408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S7Eh7ubTVtY"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C95508E-A94C-4FB6-90C0-03AA61D041C5}" type="slidenum">
              <a:rPr lang="en-GB" smtClean="0"/>
              <a:t>5</a:t>
            </a:fld>
            <a:endParaRPr lang="en-GB"/>
          </a:p>
        </p:txBody>
      </p:sp>
    </p:spTree>
    <p:extLst>
      <p:ext uri="{BB962C8B-B14F-4D97-AF65-F5344CB8AC3E}">
        <p14:creationId xmlns:p14="http://schemas.microsoft.com/office/powerpoint/2010/main" val="3931265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3"/>
              </a:rPr>
              <a:t>https://www.youtube.com/watch?v=S7Eh7ubTVtY</a:t>
            </a:r>
            <a:endParaRPr kumimoji="0" lang="en-US" altLang="en-US" sz="120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endParaRPr lang="en-GB" dirty="0"/>
          </a:p>
        </p:txBody>
      </p:sp>
      <p:sp>
        <p:nvSpPr>
          <p:cNvPr id="4" name="Slide Number Placeholder 3"/>
          <p:cNvSpPr>
            <a:spLocks noGrp="1"/>
          </p:cNvSpPr>
          <p:nvPr>
            <p:ph type="sldNum" sz="quarter" idx="5"/>
          </p:nvPr>
        </p:nvSpPr>
        <p:spPr/>
        <p:txBody>
          <a:bodyPr/>
          <a:lstStyle/>
          <a:p>
            <a:fld id="{AC95508E-A94C-4FB6-90C0-03AA61D041C5}" type="slidenum">
              <a:rPr lang="en-GB" smtClean="0"/>
              <a:t>6</a:t>
            </a:fld>
            <a:endParaRPr lang="en-GB"/>
          </a:p>
        </p:txBody>
      </p:sp>
    </p:spTree>
    <p:extLst>
      <p:ext uri="{BB962C8B-B14F-4D97-AF65-F5344CB8AC3E}">
        <p14:creationId xmlns:p14="http://schemas.microsoft.com/office/powerpoint/2010/main" val="2044235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solidFill>
                  <a:srgbClr val="000000"/>
                </a:solidFill>
                <a:effectLst/>
                <a:latin typeface="Calibri" panose="020F0502020204030204" pitchFamily="34" charset="0"/>
              </a:rPr>
              <a:t>www.firewall.cx. (n.d.). </a:t>
            </a:r>
            <a:r>
              <a:rPr lang="en-GB" b="0" i="1" dirty="0">
                <a:solidFill>
                  <a:srgbClr val="000000"/>
                </a:solidFill>
                <a:effectLst/>
                <a:latin typeface="Calibri" panose="020F0502020204030204" pitchFamily="34" charset="0"/>
              </a:rPr>
              <a:t>How To Configure DHCP Server On A Cisco Router</a:t>
            </a:r>
            <a:r>
              <a:rPr lang="en-GB" b="0" i="0" dirty="0">
                <a:solidFill>
                  <a:srgbClr val="000000"/>
                </a:solidFill>
                <a:effectLst/>
                <a:latin typeface="Calibri" panose="020F0502020204030204" pitchFamily="34" charset="0"/>
              </a:rPr>
              <a:t>. [online] Available at: https://www.firewall.cx/cisco/cisco-routers/cisco-router-dhcp-config.html.</a:t>
            </a:r>
          </a:p>
          <a:p>
            <a:pPr algn="l"/>
            <a:r>
              <a:rPr lang="en-GB" b="0" i="0" dirty="0">
                <a:solidFill>
                  <a:srgbClr val="000000"/>
                </a:solidFill>
                <a:effectLst/>
                <a:latin typeface="Calibri" panose="020F0502020204030204" pitchFamily="34" charset="0"/>
              </a:rPr>
              <a:t>‌</a:t>
            </a:r>
          </a:p>
          <a:p>
            <a:endParaRPr lang="en-GB" dirty="0"/>
          </a:p>
        </p:txBody>
      </p:sp>
      <p:sp>
        <p:nvSpPr>
          <p:cNvPr id="4" name="Slide Number Placeholder 3"/>
          <p:cNvSpPr>
            <a:spLocks noGrp="1"/>
          </p:cNvSpPr>
          <p:nvPr>
            <p:ph type="sldNum" sz="quarter" idx="5"/>
          </p:nvPr>
        </p:nvSpPr>
        <p:spPr/>
        <p:txBody>
          <a:bodyPr/>
          <a:lstStyle/>
          <a:p>
            <a:fld id="{AC95508E-A94C-4FB6-90C0-03AA61D041C5}" type="slidenum">
              <a:rPr lang="en-GB" smtClean="0"/>
              <a:t>7</a:t>
            </a:fld>
            <a:endParaRPr lang="en-GB"/>
          </a:p>
        </p:txBody>
      </p:sp>
    </p:spTree>
    <p:extLst>
      <p:ext uri="{BB962C8B-B14F-4D97-AF65-F5344CB8AC3E}">
        <p14:creationId xmlns:p14="http://schemas.microsoft.com/office/powerpoint/2010/main" val="3719504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why the network upgrade is crucial for Acme, touching on current limitations and expected improvements.</a:t>
            </a:r>
          </a:p>
        </p:txBody>
      </p:sp>
      <p:sp>
        <p:nvSpPr>
          <p:cNvPr id="4" name="Slide Number Placeholder 3"/>
          <p:cNvSpPr>
            <a:spLocks noGrp="1"/>
          </p:cNvSpPr>
          <p:nvPr>
            <p:ph type="sldNum" sz="quarter" idx="5"/>
          </p:nvPr>
        </p:nvSpPr>
        <p:spPr/>
        <p:txBody>
          <a:bodyPr/>
          <a:lstStyle/>
          <a:p>
            <a:fld id="{AC95508E-A94C-4FB6-90C0-03AA61D041C5}" type="slidenum">
              <a:rPr lang="en-GB" smtClean="0"/>
              <a:t>9</a:t>
            </a:fld>
            <a:endParaRPr lang="en-GB"/>
          </a:p>
        </p:txBody>
      </p:sp>
    </p:spTree>
    <p:extLst>
      <p:ext uri="{BB962C8B-B14F-4D97-AF65-F5344CB8AC3E}">
        <p14:creationId xmlns:p14="http://schemas.microsoft.com/office/powerpoint/2010/main" val="2092069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C95508E-A94C-4FB6-90C0-03AA61D041C5}" type="slidenum">
              <a:rPr lang="en-GB" smtClean="0"/>
              <a:t>10</a:t>
            </a:fld>
            <a:endParaRPr lang="en-GB"/>
          </a:p>
        </p:txBody>
      </p:sp>
    </p:spTree>
    <p:extLst>
      <p:ext uri="{BB962C8B-B14F-4D97-AF65-F5344CB8AC3E}">
        <p14:creationId xmlns:p14="http://schemas.microsoft.com/office/powerpoint/2010/main" val="2219456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Explain why the network upgrade is crucial for Acme, touching on current limitations and expected improvements.</a:t>
            </a:r>
          </a:p>
        </p:txBody>
      </p:sp>
      <p:sp>
        <p:nvSpPr>
          <p:cNvPr id="4" name="Slide Number Placeholder 3"/>
          <p:cNvSpPr>
            <a:spLocks noGrp="1"/>
          </p:cNvSpPr>
          <p:nvPr>
            <p:ph type="sldNum" sz="quarter" idx="5"/>
          </p:nvPr>
        </p:nvSpPr>
        <p:spPr/>
        <p:txBody>
          <a:bodyPr/>
          <a:lstStyle/>
          <a:p>
            <a:fld id="{AC95508E-A94C-4FB6-90C0-03AA61D041C5}" type="slidenum">
              <a:rPr lang="en-GB" smtClean="0"/>
              <a:t>11</a:t>
            </a:fld>
            <a:endParaRPr lang="en-GB"/>
          </a:p>
        </p:txBody>
      </p:sp>
    </p:spTree>
    <p:extLst>
      <p:ext uri="{BB962C8B-B14F-4D97-AF65-F5344CB8AC3E}">
        <p14:creationId xmlns:p14="http://schemas.microsoft.com/office/powerpoint/2010/main" val="2025519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err="1">
                <a:solidFill>
                  <a:srgbClr val="000000"/>
                </a:solidFill>
                <a:effectLst/>
                <a:latin typeface="Calibri" panose="020F0502020204030204" pitchFamily="34" charset="0"/>
              </a:rPr>
              <a:t>Gcore</a:t>
            </a:r>
            <a:r>
              <a:rPr lang="en-GB" b="0" i="0" dirty="0">
                <a:solidFill>
                  <a:srgbClr val="000000"/>
                </a:solidFill>
                <a:effectLst/>
                <a:latin typeface="Calibri" panose="020F0502020204030204" pitchFamily="34" charset="0"/>
              </a:rPr>
              <a:t>. (n.d.). </a:t>
            </a:r>
            <a:r>
              <a:rPr lang="en-GB" b="0" i="1" dirty="0">
                <a:solidFill>
                  <a:srgbClr val="000000"/>
                </a:solidFill>
                <a:effectLst/>
                <a:latin typeface="Calibri" panose="020F0502020204030204" pitchFamily="34" charset="0"/>
              </a:rPr>
              <a:t>How to Set Up a Basic Web Server on Ubuntu | Step-by-step Guide</a:t>
            </a:r>
            <a:r>
              <a:rPr lang="en-GB" b="0" i="0" dirty="0">
                <a:solidFill>
                  <a:srgbClr val="000000"/>
                </a:solidFill>
                <a:effectLst/>
                <a:latin typeface="Calibri" panose="020F0502020204030204" pitchFamily="34" charset="0"/>
              </a:rPr>
              <a:t>. [online] Available at: https://gcore.com/learning/setting-up-basic-web-server-ubuntu/.</a:t>
            </a:r>
          </a:p>
          <a:p>
            <a:pPr algn="l"/>
            <a:endParaRPr lang="en-GB" b="0" i="0" dirty="0">
              <a:solidFill>
                <a:srgbClr val="000000"/>
              </a:solidFill>
              <a:effectLst/>
              <a:latin typeface="Calibri" panose="020F0502020204030204" pitchFamily="34" charset="0"/>
            </a:endParaRPr>
          </a:p>
          <a:p>
            <a:pPr algn="l"/>
            <a:r>
              <a:rPr lang="en-GB" b="0" i="0" dirty="0">
                <a:solidFill>
                  <a:srgbClr val="000000"/>
                </a:solidFill>
                <a:effectLst/>
                <a:latin typeface="Calibri" panose="020F0502020204030204" pitchFamily="34" charset="0"/>
              </a:rPr>
              <a:t>www.youtube.com. (n.d.). </a:t>
            </a:r>
            <a:r>
              <a:rPr lang="en-GB" b="0" i="1" dirty="0">
                <a:solidFill>
                  <a:srgbClr val="000000"/>
                </a:solidFill>
                <a:effectLst/>
                <a:latin typeface="Calibri" panose="020F0502020204030204" pitchFamily="34" charset="0"/>
              </a:rPr>
              <a:t>IIS Web Server Installation &amp; Website Configuration | Introduction to Windows Server 2016 Course</a:t>
            </a:r>
            <a:r>
              <a:rPr lang="en-GB" b="0" i="0" dirty="0">
                <a:solidFill>
                  <a:srgbClr val="000000"/>
                </a:solidFill>
                <a:effectLst/>
                <a:latin typeface="Calibri" panose="020F0502020204030204" pitchFamily="34" charset="0"/>
              </a:rPr>
              <a:t>. [online] Available at: https://www.youtube.com/watch?v=gEn8j9vkaMU.</a:t>
            </a:r>
          </a:p>
          <a:p>
            <a:pPr algn="l"/>
            <a:r>
              <a:rPr lang="en-GB" b="0" i="0" dirty="0">
                <a:solidFill>
                  <a:srgbClr val="2C3E50"/>
                </a:solidFill>
                <a:effectLst/>
                <a:latin typeface="Roboto" panose="02000000000000000000" pitchFamily="2" charset="0"/>
              </a:rPr>
              <a:t> </a:t>
            </a:r>
            <a:endParaRPr lang="en-GB" b="0" i="0" dirty="0">
              <a:solidFill>
                <a:srgbClr val="000000"/>
              </a:solidFill>
              <a:effectLst/>
              <a:latin typeface="Calibri" panose="020F0502020204030204" pitchFamily="34" charset="0"/>
            </a:endParaRPr>
          </a:p>
          <a:p>
            <a:pPr algn="l"/>
            <a:r>
              <a:rPr lang="en-GB" b="0" i="0" dirty="0">
                <a:solidFill>
                  <a:srgbClr val="000000"/>
                </a:solidFill>
                <a:effectLst/>
                <a:latin typeface="Calibri" panose="020F0502020204030204" pitchFamily="34" charset="0"/>
              </a:rPr>
              <a:t>‌</a:t>
            </a:r>
          </a:p>
          <a:p>
            <a:pPr algn="l"/>
            <a:endParaRPr lang="en-GB" b="0" i="0" dirty="0">
              <a:solidFill>
                <a:srgbClr val="000000"/>
              </a:solidFill>
              <a:effectLst/>
              <a:latin typeface="Calibri" panose="020F0502020204030204" pitchFamily="34" charset="0"/>
            </a:endParaRPr>
          </a:p>
          <a:p>
            <a:pPr algn="l"/>
            <a:r>
              <a:rPr lang="en-GB" b="0" i="0" dirty="0">
                <a:solidFill>
                  <a:srgbClr val="000000"/>
                </a:solidFill>
                <a:effectLst/>
                <a:latin typeface="Calibri" panose="020F0502020204030204" pitchFamily="34" charset="0"/>
              </a:rPr>
              <a:t>‌</a:t>
            </a:r>
          </a:p>
          <a:p>
            <a:endParaRPr lang="en-GB" dirty="0"/>
          </a:p>
        </p:txBody>
      </p:sp>
      <p:sp>
        <p:nvSpPr>
          <p:cNvPr id="4" name="Slide Number Placeholder 3"/>
          <p:cNvSpPr>
            <a:spLocks noGrp="1"/>
          </p:cNvSpPr>
          <p:nvPr>
            <p:ph type="sldNum" sz="quarter" idx="5"/>
          </p:nvPr>
        </p:nvSpPr>
        <p:spPr/>
        <p:txBody>
          <a:bodyPr/>
          <a:lstStyle/>
          <a:p>
            <a:fld id="{AC95508E-A94C-4FB6-90C0-03AA61D041C5}" type="slidenum">
              <a:rPr lang="en-GB" smtClean="0"/>
              <a:t>12</a:t>
            </a:fld>
            <a:endParaRPr lang="en-GB"/>
          </a:p>
        </p:txBody>
      </p:sp>
    </p:spTree>
    <p:extLst>
      <p:ext uri="{BB962C8B-B14F-4D97-AF65-F5344CB8AC3E}">
        <p14:creationId xmlns:p14="http://schemas.microsoft.com/office/powerpoint/2010/main" val="565699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530352" y="1122363"/>
            <a:ext cx="10072922" cy="197834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530352" y="3509963"/>
            <a:ext cx="10072922" cy="1747837"/>
          </a:xfrm>
        </p:spPr>
        <p:txBody>
          <a:bodyPr>
            <a:normAutofit/>
          </a:bodyPr>
          <a:lstStyle>
            <a:lvl1pPr marL="0" indent="0" algn="l">
              <a:buNone/>
              <a:defRPr sz="2000" i="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530352" y="136525"/>
            <a:ext cx="2743200" cy="365125"/>
          </a:xfrm>
        </p:spPr>
        <p:txBody>
          <a:bodyPr/>
          <a:lstStyle>
            <a:lvl1pPr algn="l">
              <a:defRPr/>
            </a:lvl1pPr>
          </a:lstStyle>
          <a:p>
            <a:fld id="{524C6359-9BB8-4148-8114-537E698DA205}" type="datetime1">
              <a:rPr lang="en-US" smtClean="0"/>
              <a:t>11/15/2024</a:t>
            </a:fld>
            <a:endParaRPr lang="en-US" dirty="0"/>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530352"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5E279D86-4533-45F1-B0AA-D237399A5ED5}"/>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764FD722-CB31-4326-ADD8-CBA52FD1FF59}"/>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24E4BCEC-8B0A-444E-8509-1B3BB0449E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9DB36622-1DC7-4B17-8984-588BA8999FF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51B97AF0-1974-42B9-B5FC-A332C52E827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5A298AD-BE5D-4BE1-8CDF-DBFB42D63FE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268494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11/15/2024</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AC552FEA-472E-4E74-B31D-531852C1908D}"/>
              </a:ext>
              <a:ext uri="{C183D7F6-B498-43B3-948B-1728B52AA6E4}">
                <adec:decorative xmlns:adec="http://schemas.microsoft.com/office/drawing/2017/decorative" val="1"/>
              </a:ext>
            </a:extLst>
          </p:cNvPr>
          <p:cNvGrpSpPr/>
          <p:nvPr/>
        </p:nvGrpSpPr>
        <p:grpSpPr>
          <a:xfrm>
            <a:off x="530225" y="2310597"/>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41DF3078-C636-4776-A616-D5BF3BC280C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0D1A27FA-1310-4BC3-A071-1566746B2FB1}"/>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99ACB9EB-84FE-4B33-9EF9-4EC7DAC25DD5}"/>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826E5EFB-0EF9-4DB8-99CB-5DD72009DB2C}"/>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86238E12-0689-4123-8B2E-E1CCFCC4C88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8538CF67-A00E-4955-A447-001BE02E771A}"/>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758142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11/15/2024</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37B4CDD2-E09A-418A-9131-FBDEE440A1F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8852E5FB-B268-4CCA-8E55-803038F7A00D}"/>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A1C9CBB3-97C0-4A35-9088-C69233F5CEE7}"/>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1610871-AEE9-46EB-9D27-BA1D9D688124}"/>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27478059-2A11-484D-A2D7-199F74778E50}"/>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0EC0886-DDB9-47F1-9414-C121C1D3F954}"/>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66A10427-DF20-4284-B215-EABA4D366E20}"/>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126623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525717" y="2521885"/>
            <a:ext cx="4645152"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5992136" y="2521885"/>
            <a:ext cx="4611138"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463255ED-7101-4D18-A8AE-3B5E4CB87EA5}" type="datetime1">
              <a:rPr lang="en-US" smtClean="0"/>
              <a:t>11/15/2024</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0CB61A83-9419-49FC-8074-2AB3D34FA88B}"/>
              </a:ext>
              <a:ext uri="{C183D7F6-B498-43B3-948B-1728B52AA6E4}">
                <adec:decorative xmlns:adec="http://schemas.microsoft.com/office/drawing/2017/decorative" val="1"/>
              </a:ext>
            </a:extLst>
          </p:cNvPr>
          <p:cNvGrpSpPr/>
          <p:nvPr/>
        </p:nvGrpSpPr>
        <p:grpSpPr>
          <a:xfrm>
            <a:off x="530225" y="2319637"/>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BCD12E57-97FB-48D8-81CC-7C37E8947CB4}"/>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E487641C-E83B-4134-88C9-1D23D5FA1836}"/>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B99AB7A6-A88C-44E1-A9DE-4126B957F88A}"/>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FF0D518-1D17-44C7-BF73-7C980481DB5B}"/>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A7A3E12-61E8-41A0-A459-15BF375FA945}"/>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9E5E4A56-9100-4D60-8A34-0FE116F41FF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347588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530352" y="787067"/>
            <a:ext cx="100729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530352" y="2521884"/>
            <a:ext cx="4845387"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530352" y="3366390"/>
            <a:ext cx="4845387"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5734025" y="2521884"/>
            <a:ext cx="4869249"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5734025" y="3366390"/>
            <a:ext cx="4869249"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CD52F23D-51F6-4C94-8CD5-B9ABBF67EE23}" type="datetime1">
              <a:rPr lang="en-US" smtClean="0"/>
              <a:t>11/15/2024</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248042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525718" y="787068"/>
            <a:ext cx="10077556"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D51A702F-6367-4FD1-89A8-3744BE6BA9A2}" type="datetime1">
              <a:rPr lang="en-US" smtClean="0"/>
              <a:t>11/15/2024</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6" name="Graphic 78">
            <a:extLst>
              <a:ext uri="{FF2B5EF4-FFF2-40B4-BE49-F238E27FC236}">
                <a16:creationId xmlns:a16="http://schemas.microsoft.com/office/drawing/2014/main" id="{AC45ECC6-E29C-40EF-A7C9-5A17DAFD4299}"/>
              </a:ext>
              <a:ext uri="{C183D7F6-B498-43B3-948B-1728B52AA6E4}">
                <adec:decorative xmlns:adec="http://schemas.microsoft.com/office/drawing/2017/decorative" val="1"/>
              </a:ext>
            </a:extLst>
          </p:cNvPr>
          <p:cNvGrpSpPr/>
          <p:nvPr/>
        </p:nvGrpSpPr>
        <p:grpSpPr>
          <a:xfrm>
            <a:off x="530225" y="2352330"/>
            <a:ext cx="972241" cy="45719"/>
            <a:chOff x="4886325" y="3371754"/>
            <a:chExt cx="2418492" cy="113728"/>
          </a:xfrm>
          <a:solidFill>
            <a:schemeClr val="accent1"/>
          </a:solidFill>
        </p:grpSpPr>
        <p:sp>
          <p:nvSpPr>
            <p:cNvPr id="7" name="Graphic 78">
              <a:extLst>
                <a:ext uri="{FF2B5EF4-FFF2-40B4-BE49-F238E27FC236}">
                  <a16:creationId xmlns:a16="http://schemas.microsoft.com/office/drawing/2014/main" id="{8DA0D497-8E8F-426A-8172-894BE03F70F6}"/>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8" name="Graphic 78">
              <a:extLst>
                <a:ext uri="{FF2B5EF4-FFF2-40B4-BE49-F238E27FC236}">
                  <a16:creationId xmlns:a16="http://schemas.microsoft.com/office/drawing/2014/main" id="{8C0459EF-3B70-4083-8845-3A9AF847E805}"/>
                </a:ext>
              </a:extLst>
            </p:cNvPr>
            <p:cNvGrpSpPr/>
            <p:nvPr/>
          </p:nvGrpSpPr>
          <p:grpSpPr>
            <a:xfrm>
              <a:off x="4886709" y="3371754"/>
              <a:ext cx="2418108" cy="113728"/>
              <a:chOff x="4886709" y="3371754"/>
              <a:chExt cx="2418108" cy="113728"/>
            </a:xfrm>
            <a:grpFill/>
          </p:grpSpPr>
          <p:sp>
            <p:nvSpPr>
              <p:cNvPr id="9" name="Graphic 78">
                <a:extLst>
                  <a:ext uri="{FF2B5EF4-FFF2-40B4-BE49-F238E27FC236}">
                    <a16:creationId xmlns:a16="http://schemas.microsoft.com/office/drawing/2014/main" id="{53BF2B58-70F8-4288-85AB-CBDA723CDFCC}"/>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0" name="Graphic 78">
                <a:extLst>
                  <a:ext uri="{FF2B5EF4-FFF2-40B4-BE49-F238E27FC236}">
                    <a16:creationId xmlns:a16="http://schemas.microsoft.com/office/drawing/2014/main" id="{A569E551-A5A0-4A8F-B999-3A6D104814A2}"/>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0FB69EB5-D9AC-46E7-934E-32999C39B2E6}"/>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6EABC49A-B4ED-44E4-ADB7-E432734A7C9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657838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4A6E99BD-4B4F-4460-B452-0E8146ACCF8F}" type="datetime1">
              <a:rPr lang="en-US" smtClean="0"/>
              <a:t>11/15/2024</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210312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530352" y="787068"/>
            <a:ext cx="4315386" cy="2223152"/>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987425"/>
            <a:ext cx="5420086"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530352" y="3429000"/>
            <a:ext cx="4315386"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EB6FD34C-1867-42A9-AC54-D15ADD8A65E7}" type="datetime1">
              <a:rPr lang="en-US" smtClean="0"/>
              <a:t>11/15/2024</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839DB371-B90D-44CB-A4AF-C7BDBFD0A87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0C845011-2FC2-40F7-B0C6-49CBBA72B9C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2BC78B8-5139-436F-AD47-3CC03903FDDC}"/>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F9DC17BA-1278-45C9-B1BF-B9F1518E1F29}"/>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9637B9F-CC26-4669-81F0-A942B4F72D61}"/>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2BB8F115-0030-47B4-BAF4-C15D1EA27B11}"/>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662F9949-4F1A-4708-824B-E876E9BEDA1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84882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530352" y="787068"/>
            <a:ext cx="3932237" cy="2223152"/>
          </a:xfrm>
        </p:spPr>
        <p:txBody>
          <a:bodyPr anchor="b">
            <a:no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987425"/>
            <a:ext cx="54200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530352"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336133E9-A654-4C17-8C3C-DDCAC83D6EBF}" type="datetime1">
              <a:rPr lang="en-US" smtClean="0"/>
              <a:t>11/15/2024</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7627CBC2-9DC2-4EE8-A2D5-849E30F2201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9FB4AEFC-63AB-4831-8EC1-E8145604D8D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11E1337-D5DA-408D-91F3-A6A35FCDD0B9}"/>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1E473FA4-FD80-4D04-AAC5-63B9A4D80778}"/>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FCB457B9-48DE-4921-8C3F-996598075B1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53C9DB95-9A61-4553-8D82-D2BE26FCBC6E}"/>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0EAE371F-24C9-4738-834F-FAF5A5C9ACE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590001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A4649BD0-10DB-43E7-8F22-40B3D51B8FC3}" type="datetime1">
              <a:rPr lang="en-US" smtClean="0"/>
              <a:t>11/15/2024</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12EF7969-DB38-4989-A65C-9D190A245515}"/>
              </a:ext>
              <a:ext uri="{C183D7F6-B498-43B3-948B-1728B52AA6E4}">
                <adec:decorative xmlns:adec="http://schemas.microsoft.com/office/drawing/2017/decorative" val="1"/>
              </a:ext>
            </a:extLst>
          </p:cNvPr>
          <p:cNvGrpSpPr/>
          <p:nvPr/>
        </p:nvGrpSpPr>
        <p:grpSpPr>
          <a:xfrm>
            <a:off x="530225" y="2333456"/>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2145BE25-C437-45FE-A3D3-BBAAF108CC9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4A9D0FA0-682C-4076-B779-D865AEEFC66C}"/>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AB60163C-1A2D-4F00-BC61-8A3C11E2D2BE}"/>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3FF8D873-9CF9-4A0A-A7B8-875C0B8233D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2B645470-F624-4417-A8A4-FC242E43C9DB}"/>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ECC7EFEF-6B2A-4210-9275-0077ACF2827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995533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7974374" y="787067"/>
            <a:ext cx="2628900" cy="538989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525719" y="787067"/>
            <a:ext cx="7039402" cy="538989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0A16C79C-F566-427A-93F6-434A4E613134}" type="datetime1">
              <a:rPr lang="en-US" smtClean="0"/>
              <a:t>11/15/2024</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88F505F-2957-41FC-9AAA-962853A6719E}"/>
              </a:ext>
              <a:ext uri="{C183D7F6-B498-43B3-948B-1728B52AA6E4}">
                <adec:decorative xmlns:adec="http://schemas.microsoft.com/office/drawing/2017/decorative" val="1"/>
              </a:ext>
            </a:extLst>
          </p:cNvPr>
          <p:cNvGrpSpPr/>
          <p:nvPr/>
        </p:nvGrpSpPr>
        <p:grpSpPr>
          <a:xfrm rot="5400000">
            <a:off x="7283627" y="1250328"/>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091A36EB-8545-4EFE-B619-165D36D644D1}"/>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8D075D29-6706-486B-A55A-13866882BA88}"/>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FAE751A-10F0-48F2-BBC3-D2FE499B34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52289CAF-683C-4BCC-8AA5-95A3BF799B0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BC8403A-C46F-4DA1-A015-00A80215F289}"/>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A797D957-3A2C-42DF-B73E-CBB47BE036B7}"/>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981169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35959F4-53DA-47FF-BC24-1E5B75C69876}"/>
              </a:ext>
            </a:extLst>
          </p:cNvPr>
          <p:cNvSpPr/>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0" name="Group 19">
            <a:extLst>
              <a:ext uri="{FF2B5EF4-FFF2-40B4-BE49-F238E27FC236}">
                <a16:creationId xmlns:a16="http://schemas.microsoft.com/office/drawing/2014/main" id="{A7CF83E8-F6F0-41E3-B580-7412A04DDFB5}"/>
              </a:ext>
            </a:extLst>
          </p:cNvPr>
          <p:cNvGrpSpPr/>
          <p:nvPr/>
        </p:nvGrpSpPr>
        <p:grpSpPr>
          <a:xfrm>
            <a:off x="10776050" y="5204030"/>
            <a:ext cx="886141" cy="802497"/>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Lst>
            </p:cNvPr>
            <p:cNvSpPr/>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Lst>
            </p:cNvPr>
            <p:cNvSpPr/>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Lst>
            </p:cNvPr>
            <p:cNvSpPr/>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Lst>
            </p:cNvPr>
            <p:cNvSpPr/>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Lst>
            </p:cNvPr>
            <p:cNvSpPr/>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Lst>
            </p:cNvPr>
            <p:cNvSpPr/>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Lst>
            </p:cNvPr>
            <p:cNvSpPr/>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reeform: Shape 7">
            <a:extLst>
              <a:ext uri="{FF2B5EF4-FFF2-40B4-BE49-F238E27FC236}">
                <a16:creationId xmlns:a16="http://schemas.microsoft.com/office/drawing/2014/main" id="{59226104-0061-4319-8237-9C001BF85D49}"/>
              </a:ext>
            </a:extLst>
          </p:cNvPr>
          <p:cNvSpPr/>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525717" y="787068"/>
            <a:ext cx="1007755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525717" y="2521885"/>
            <a:ext cx="10077557" cy="3549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525718" y="136525"/>
            <a:ext cx="2743200"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fld id="{8769D389-4C4C-4FD7-9E6B-9F44477F0EB8}" type="datetime1">
              <a:rPr lang="en-US" smtClean="0"/>
              <a:t>11/15/2024</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525718" y="6356350"/>
            <a:ext cx="3450659"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endParaRPr lang="en-US"/>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655367" y="6356350"/>
            <a:ext cx="529809" cy="365125"/>
          </a:xfrm>
          <a:prstGeom prst="rect">
            <a:avLst/>
          </a:prstGeom>
        </p:spPr>
        <p:txBody>
          <a:bodyPr vert="horz" lIns="91440" tIns="45720" rIns="91440" bIns="45720" rtlCol="0" anchor="ctr"/>
          <a:lstStyle>
            <a:lvl1pPr algn="ctr">
              <a:defRPr sz="900" cap="none" spc="110" baseline="0">
                <a:solidFill>
                  <a:schemeClr val="tx1">
                    <a:lumMod val="65000"/>
                    <a:lumOff val="35000"/>
                  </a:schemeClr>
                </a:solidFill>
              </a:defRPr>
            </a:lvl1pPr>
          </a:lstStyle>
          <a:p>
            <a:fld id="{E1076ED0-0DB3-4879-AAE5-5C20D22C1DF4}" type="slidenum">
              <a:rPr lang="en-US" smtClean="0"/>
              <a:t>‹#›</a:t>
            </a:fld>
            <a:endParaRPr lang="en-US"/>
          </a:p>
        </p:txBody>
      </p:sp>
    </p:spTree>
    <p:extLst>
      <p:ext uri="{BB962C8B-B14F-4D97-AF65-F5344CB8AC3E}">
        <p14:creationId xmlns:p14="http://schemas.microsoft.com/office/powerpoint/2010/main" val="3976856427"/>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3600" i="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S7Eh7ubTVt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hyperlink" Target="https://www.parkplacetechnologies.com/blog/what-is-dhcp-how-works-benefits/" TargetMode="External"/><Relationship Id="rId3" Type="http://schemas.openxmlformats.org/officeDocument/2006/relationships/hyperlink" Target="https://www.pngegg.com/en/png-zsiwz" TargetMode="External"/><Relationship Id="rId7" Type="http://schemas.openxmlformats.org/officeDocument/2006/relationships/hyperlink" Target="https://www.firewall.cx/cisco/cisco-routers/cisco-router-dhcp-config.html" TargetMode="External"/><Relationship Id="rId2" Type="http://schemas.openxmlformats.org/officeDocument/2006/relationships/hyperlink" Target="https://www.shutterstock.com/search/dhcp?image_type=vector" TargetMode="External"/><Relationship Id="rId1" Type="http://schemas.openxmlformats.org/officeDocument/2006/relationships/slideLayout" Target="../slideLayouts/slideLayout1.xml"/><Relationship Id="rId6" Type="http://schemas.openxmlformats.org/officeDocument/2006/relationships/hyperlink" Target="https://www.youtube.com/watch?v=6mfEYAkDwRs" TargetMode="External"/><Relationship Id="rId5" Type="http://schemas.openxmlformats.org/officeDocument/2006/relationships/hyperlink" Target="https://www.readandexecute.com/how-to/server-2016/active-directory/how-to-server-2016installing-active-directory-server-2016/" TargetMode="External"/><Relationship Id="rId4" Type="http://schemas.openxmlformats.org/officeDocument/2006/relationships/hyperlink" Target="https://newserverlife.com/articles/what-is-dhcp-server-and-how-to-configure-it/" TargetMode="External"/><Relationship Id="rId9" Type="http://schemas.openxmlformats.org/officeDocument/2006/relationships/hyperlink" Target="https://gcore.com/learning/setting-up-basic-web-server-ubunt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4" name="Video 3" descr="Wires Linked To Core Router">
            <a:extLst>
              <a:ext uri="{FF2B5EF4-FFF2-40B4-BE49-F238E27FC236}">
                <a16:creationId xmlns:a16="http://schemas.microsoft.com/office/drawing/2014/main" id="{C2CB68B1-AA81-F73D-6CBC-B4C1F10EAAAB}"/>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88" r="-1" b="170"/>
          <a:stretch/>
        </p:blipFill>
        <p:spPr>
          <a:xfrm>
            <a:off x="16044" y="117694"/>
            <a:ext cx="12188932" cy="6857990"/>
          </a:xfrm>
          <a:prstGeom prst="rect">
            <a:avLst/>
          </a:prstGeom>
        </p:spPr>
      </p:pic>
      <p:sp>
        <p:nvSpPr>
          <p:cNvPr id="11" name="Rectangle 10">
            <a:extLst>
              <a:ext uri="{FF2B5EF4-FFF2-40B4-BE49-F238E27FC236}">
                <a16:creationId xmlns:a16="http://schemas.microsoft.com/office/drawing/2014/main" id="{948AEA76-67F2-4344-A189-9BFFE0076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70186" y="-570186"/>
            <a:ext cx="6858000" cy="7998371"/>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007581-B76B-6C0F-ABBC-C4E415668930}"/>
              </a:ext>
            </a:extLst>
          </p:cNvPr>
          <p:cNvSpPr>
            <a:spLocks noGrp="1"/>
          </p:cNvSpPr>
          <p:nvPr>
            <p:ph type="ctrTitle"/>
          </p:nvPr>
        </p:nvSpPr>
        <p:spPr>
          <a:xfrm>
            <a:off x="530351" y="799521"/>
            <a:ext cx="6038445" cy="2373240"/>
          </a:xfrm>
        </p:spPr>
        <p:txBody>
          <a:bodyPr>
            <a:normAutofit fontScale="90000"/>
          </a:bodyPr>
          <a:lstStyle/>
          <a:p>
            <a:r>
              <a:rPr lang="en-GB" sz="4400" dirty="0">
                <a:solidFill>
                  <a:srgbClr val="FFFFFF"/>
                </a:solidFill>
              </a:rPr>
              <a:t>Network Implementation –Acme.com</a:t>
            </a:r>
            <a:br>
              <a:rPr lang="en-GB" sz="4400" dirty="0">
                <a:solidFill>
                  <a:srgbClr val="FFFFFF"/>
                </a:solidFill>
              </a:rPr>
            </a:br>
            <a:r>
              <a:rPr lang="en-GB" sz="4400" dirty="0">
                <a:solidFill>
                  <a:srgbClr val="FFFFFF"/>
                </a:solidFill>
              </a:rPr>
              <a:t>By : Ramsey Lewis</a:t>
            </a:r>
          </a:p>
        </p:txBody>
      </p:sp>
      <p:sp>
        <p:nvSpPr>
          <p:cNvPr id="13" name="Freeform: Shape 12">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85350" y="-785349"/>
            <a:ext cx="744976"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5"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0225" y="3267662"/>
            <a:ext cx="972241" cy="45718"/>
            <a:chOff x="4886325" y="3371754"/>
            <a:chExt cx="2418492" cy="113728"/>
          </a:xfrm>
          <a:solidFill>
            <a:schemeClr val="accent1"/>
          </a:solidFill>
        </p:grpSpPr>
        <p:sp>
          <p:nvSpPr>
            <p:cNvPr id="16"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7"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8"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0"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1"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23" name="Freeform: Shape 22">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66006"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5" name="Group 24">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6" name="Freeform: Shape 25">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Freeform: Shape 26">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8" name="Freeform: Shape 27">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9"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30"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1"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84958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7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7020F-CC0B-C474-B2AD-C00BF2BDBAB0}"/>
              </a:ext>
            </a:extLst>
          </p:cNvPr>
          <p:cNvSpPr>
            <a:spLocks noGrp="1"/>
          </p:cNvSpPr>
          <p:nvPr>
            <p:ph type="ctrTitle"/>
          </p:nvPr>
        </p:nvSpPr>
        <p:spPr>
          <a:xfrm>
            <a:off x="657101" y="253231"/>
            <a:ext cx="10072922" cy="1978346"/>
          </a:xfrm>
        </p:spPr>
        <p:txBody>
          <a:bodyPr/>
          <a:lstStyle/>
          <a:p>
            <a:r>
              <a:rPr lang="en-GB" dirty="0"/>
              <a:t>Case Study  Scenario for Acme</a:t>
            </a:r>
          </a:p>
        </p:txBody>
      </p:sp>
      <p:sp>
        <p:nvSpPr>
          <p:cNvPr id="3" name="Subtitle 2">
            <a:extLst>
              <a:ext uri="{FF2B5EF4-FFF2-40B4-BE49-F238E27FC236}">
                <a16:creationId xmlns:a16="http://schemas.microsoft.com/office/drawing/2014/main" id="{EB023F9B-1B43-2A9D-2454-B55E056CCF10}"/>
              </a:ext>
            </a:extLst>
          </p:cNvPr>
          <p:cNvSpPr>
            <a:spLocks noGrp="1"/>
          </p:cNvSpPr>
          <p:nvPr>
            <p:ph type="subTitle" idx="1"/>
          </p:nvPr>
        </p:nvSpPr>
        <p:spPr/>
        <p:txBody>
          <a:bodyPr>
            <a:normAutofit lnSpcReduction="10000"/>
          </a:bodyPr>
          <a:lstStyle/>
          <a:p>
            <a:r>
              <a:rPr lang="en-GB" b="0" i="0" dirty="0">
                <a:solidFill>
                  <a:srgbClr val="0D3C26"/>
                </a:solidFill>
                <a:effectLst/>
                <a:latin typeface="__ALPINA_d83382"/>
              </a:rPr>
              <a:t>Acme is a mid-sized business in Southern England that specializes in offering office equipment to customers. They also provide sales and customer support services.  The company runs five shops in Bournemouth, Swindon, Southampton, Reading, and Portsmouth, there are 180 staffs  in  each shop  has 30 staffs  the company has also 30 additional staff standby in the   head office  that will be needing access to the computer.</a:t>
            </a:r>
            <a:endParaRPr lang="en-GB" dirty="0"/>
          </a:p>
        </p:txBody>
      </p:sp>
    </p:spTree>
    <p:extLst>
      <p:ext uri="{BB962C8B-B14F-4D97-AF65-F5344CB8AC3E}">
        <p14:creationId xmlns:p14="http://schemas.microsoft.com/office/powerpoint/2010/main" val="3919701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4A5B-0B56-C646-4F04-73C7E16A2157}"/>
              </a:ext>
            </a:extLst>
          </p:cNvPr>
          <p:cNvSpPr>
            <a:spLocks noGrp="1"/>
          </p:cNvSpPr>
          <p:nvPr>
            <p:ph type="title"/>
          </p:nvPr>
        </p:nvSpPr>
        <p:spPr/>
        <p:txBody>
          <a:bodyPr/>
          <a:lstStyle/>
          <a:p>
            <a:r>
              <a:rPr lang="en-GB" dirty="0"/>
              <a:t>Types of servers in the networks </a:t>
            </a:r>
            <a:br>
              <a:rPr lang="en-GB" dirty="0"/>
            </a:br>
            <a:endParaRPr lang="en-GB" dirty="0"/>
          </a:p>
        </p:txBody>
      </p:sp>
      <p:sp>
        <p:nvSpPr>
          <p:cNvPr id="4" name="TextBox 3">
            <a:extLst>
              <a:ext uri="{FF2B5EF4-FFF2-40B4-BE49-F238E27FC236}">
                <a16:creationId xmlns:a16="http://schemas.microsoft.com/office/drawing/2014/main" id="{14D13525-54CE-282E-683E-D8B8E56BF45D}"/>
              </a:ext>
            </a:extLst>
          </p:cNvPr>
          <p:cNvSpPr txBox="1"/>
          <p:nvPr/>
        </p:nvSpPr>
        <p:spPr>
          <a:xfrm>
            <a:off x="932507" y="2643612"/>
            <a:ext cx="4646257" cy="2585323"/>
          </a:xfrm>
          <a:prstGeom prst="rect">
            <a:avLst/>
          </a:prstGeom>
          <a:noFill/>
        </p:spPr>
        <p:txBody>
          <a:bodyPr wrap="square" rtlCol="0">
            <a:spAutoFit/>
          </a:bodyPr>
          <a:lstStyle/>
          <a:p>
            <a:pPr marL="285750" indent="-285750">
              <a:buFont typeface="Arial" panose="020B0604020202020204" pitchFamily="34" charset="0"/>
              <a:buChar char="•"/>
            </a:pPr>
            <a:r>
              <a:rPr lang="en-GB" sz="5400" dirty="0">
                <a:latin typeface="Calibri" panose="020F0502020204030204" pitchFamily="34" charset="0"/>
                <a:cs typeface="Calibri" panose="020F0502020204030204" pitchFamily="34" charset="0"/>
              </a:rPr>
              <a:t>DHCP Server</a:t>
            </a:r>
          </a:p>
          <a:p>
            <a:pPr marL="285750" indent="-285750">
              <a:buFont typeface="Arial" panose="020B0604020202020204" pitchFamily="34" charset="0"/>
              <a:buChar char="•"/>
            </a:pPr>
            <a:r>
              <a:rPr lang="en-GB" sz="5400" dirty="0">
                <a:latin typeface="Calibri" panose="020F0502020204030204" pitchFamily="34" charset="0"/>
                <a:cs typeface="Calibri" panose="020F0502020204030204" pitchFamily="34" charset="0"/>
              </a:rPr>
              <a:t>DNS Server </a:t>
            </a:r>
          </a:p>
          <a:p>
            <a:pPr marL="285750" indent="-285750">
              <a:buFont typeface="Arial" panose="020B0604020202020204" pitchFamily="34" charset="0"/>
              <a:buChar char="•"/>
            </a:pPr>
            <a:r>
              <a:rPr lang="en-GB" sz="5400" dirty="0">
                <a:latin typeface="Calibri" panose="020F0502020204030204" pitchFamily="34" charset="0"/>
                <a:cs typeface="Calibri" panose="020F0502020204030204" pitchFamily="34" charset="0"/>
              </a:rPr>
              <a:t>Web Server </a:t>
            </a:r>
          </a:p>
        </p:txBody>
      </p:sp>
      <p:pic>
        <p:nvPicPr>
          <p:cNvPr id="1026" name="Picture 2" descr="75 Dhcp Stock Vectors and Vector Art | Shutterstock">
            <a:extLst>
              <a:ext uri="{FF2B5EF4-FFF2-40B4-BE49-F238E27FC236}">
                <a16:creationId xmlns:a16="http://schemas.microsoft.com/office/drawing/2014/main" id="{697BC7C4-ACB6-B8B9-9285-A623B3501F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0456" y="648057"/>
            <a:ext cx="2133371" cy="16035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ns icon. Trendy Dns logo concept on white background from ...">
            <a:extLst>
              <a:ext uri="{FF2B5EF4-FFF2-40B4-BE49-F238E27FC236}">
                <a16:creationId xmlns:a16="http://schemas.microsoft.com/office/drawing/2014/main" id="{E8C00B83-8002-8B45-305B-9496DAE0F5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158"/>
          <a:stretch/>
        </p:blipFill>
        <p:spPr bwMode="auto">
          <a:xfrm>
            <a:off x="7316531" y="2541670"/>
            <a:ext cx="1854952" cy="206469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Web Server illustration, Web server Computer Servers Web hosting service  Data center, server, computer Network, electronics png | PNGEgg">
            <a:extLst>
              <a:ext uri="{FF2B5EF4-FFF2-40B4-BE49-F238E27FC236}">
                <a16:creationId xmlns:a16="http://schemas.microsoft.com/office/drawing/2014/main" id="{CC569D8B-3BAE-0C99-A03A-B45824FB79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7141" y="2643612"/>
            <a:ext cx="1854952" cy="2224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355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0FF56-9558-1A3B-2612-971F98736C99}"/>
              </a:ext>
            </a:extLst>
          </p:cNvPr>
          <p:cNvSpPr>
            <a:spLocks noGrp="1"/>
          </p:cNvSpPr>
          <p:nvPr>
            <p:ph type="ctrTitle"/>
          </p:nvPr>
        </p:nvSpPr>
        <p:spPr>
          <a:xfrm>
            <a:off x="530353" y="219509"/>
            <a:ext cx="6119830" cy="1380691"/>
          </a:xfrm>
        </p:spPr>
        <p:txBody>
          <a:bodyPr>
            <a:normAutofit/>
          </a:bodyPr>
          <a:lstStyle/>
          <a:p>
            <a:r>
              <a:rPr lang="en-GB" dirty="0"/>
              <a:t>Building DHCP Server </a:t>
            </a:r>
            <a:br>
              <a:rPr lang="en-GB" dirty="0"/>
            </a:br>
            <a:endParaRPr lang="en-GB" dirty="0"/>
          </a:p>
        </p:txBody>
      </p:sp>
      <p:sp>
        <p:nvSpPr>
          <p:cNvPr id="3" name="Subtitle 2">
            <a:extLst>
              <a:ext uri="{FF2B5EF4-FFF2-40B4-BE49-F238E27FC236}">
                <a16:creationId xmlns:a16="http://schemas.microsoft.com/office/drawing/2014/main" id="{0D19DCE7-9B07-5E31-3AB6-309541BB87F7}"/>
              </a:ext>
            </a:extLst>
          </p:cNvPr>
          <p:cNvSpPr>
            <a:spLocks noGrp="1"/>
          </p:cNvSpPr>
          <p:nvPr>
            <p:ph type="subTitle" idx="1"/>
          </p:nvPr>
        </p:nvSpPr>
        <p:spPr>
          <a:xfrm>
            <a:off x="530352" y="3509963"/>
            <a:ext cx="10539430" cy="2168559"/>
          </a:xfrm>
        </p:spPr>
        <p:txBody>
          <a:bodyPr>
            <a:normAutofit fontScale="77500" lnSpcReduction="20000"/>
          </a:bodyPr>
          <a:lstStyle/>
          <a:p>
            <a:r>
              <a:rPr lang="en-GB" dirty="0"/>
              <a:t>When building a DHCP server for ACME, we need to define the IP address range and subnets for each of the company’s five locations, ensuring these are connected through a central network over WAN links. This setup will establish reliable connectivity across sites. We will also configure the </a:t>
            </a:r>
            <a:r>
              <a:rPr lang="en-GB" sz="2000" b="0" i="0" dirty="0">
                <a:solidFill>
                  <a:srgbClr val="000000"/>
                </a:solidFill>
                <a:effectLst/>
                <a:latin typeface="Calibri" panose="020F0502020204030204" pitchFamily="34" charset="0"/>
              </a:rPr>
              <a:t>Beer, J. (2018). </a:t>
            </a:r>
            <a:r>
              <a:rPr lang="en-GB" dirty="0"/>
              <a:t>DHCP server to assign dynamic IPs to workstations </a:t>
            </a:r>
            <a:r>
              <a:rPr lang="en-GB" sz="2000" b="0" i="0" dirty="0">
                <a:solidFill>
                  <a:srgbClr val="000000"/>
                </a:solidFill>
                <a:effectLst/>
                <a:latin typeface="Calibri" panose="020F0502020204030204" pitchFamily="34" charset="0"/>
              </a:rPr>
              <a:t>Beer, J. (2018).  </a:t>
            </a:r>
            <a:r>
              <a:rPr lang="en-GB" dirty="0"/>
              <a:t>while reserving static IPs for servers and critical devices, as specified in ACME’s requirements. To meet ACME’s needs, we could select either a Windows Server DHCP or ISC DHCP for Linux, depending on the existing infrastructure and preference for integration or flexibility. The DHCP server will also support ACME’s secure wireless LAN, allowing mobile devices like laptops and tablets to connect seamlessly across sites. This setup will provide centralized control, scalability for future expansion, and efficient management of IP addresses, fully supporting ACME’s network requirements.</a:t>
            </a:r>
          </a:p>
        </p:txBody>
      </p:sp>
      <p:pic>
        <p:nvPicPr>
          <p:cNvPr id="5" name="Picture 4">
            <a:extLst>
              <a:ext uri="{FF2B5EF4-FFF2-40B4-BE49-F238E27FC236}">
                <a16:creationId xmlns:a16="http://schemas.microsoft.com/office/drawing/2014/main" id="{5E50946A-3948-46F2-5916-C60EDF9D88E5}"/>
              </a:ext>
            </a:extLst>
          </p:cNvPr>
          <p:cNvPicPr>
            <a:picLocks noChangeAspect="1"/>
          </p:cNvPicPr>
          <p:nvPr/>
        </p:nvPicPr>
        <p:blipFill>
          <a:blip r:embed="rId2"/>
          <a:srcRect t="12970" b="10500"/>
          <a:stretch/>
        </p:blipFill>
        <p:spPr>
          <a:xfrm>
            <a:off x="6367663" y="870993"/>
            <a:ext cx="4235611" cy="1863980"/>
          </a:xfrm>
          <a:prstGeom prst="rect">
            <a:avLst/>
          </a:prstGeom>
        </p:spPr>
      </p:pic>
      <p:pic>
        <p:nvPicPr>
          <p:cNvPr id="6" name="Picture 5">
            <a:extLst>
              <a:ext uri="{FF2B5EF4-FFF2-40B4-BE49-F238E27FC236}">
                <a16:creationId xmlns:a16="http://schemas.microsoft.com/office/drawing/2014/main" id="{DBD2FC1D-1E2A-CFD1-1B30-91E8C610FA51}"/>
              </a:ext>
            </a:extLst>
          </p:cNvPr>
          <p:cNvPicPr>
            <a:picLocks noChangeAspect="1"/>
          </p:cNvPicPr>
          <p:nvPr/>
        </p:nvPicPr>
        <p:blipFill>
          <a:blip r:embed="rId3"/>
          <a:stretch>
            <a:fillRect/>
          </a:stretch>
        </p:blipFill>
        <p:spPr>
          <a:xfrm>
            <a:off x="1588726" y="909854"/>
            <a:ext cx="2891078" cy="2002855"/>
          </a:xfrm>
          <a:prstGeom prst="rect">
            <a:avLst/>
          </a:prstGeom>
        </p:spPr>
      </p:pic>
    </p:spTree>
    <p:extLst>
      <p:ext uri="{BB962C8B-B14F-4D97-AF65-F5344CB8AC3E}">
        <p14:creationId xmlns:p14="http://schemas.microsoft.com/office/powerpoint/2010/main" val="3891121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509CA2-94FA-219A-2164-2F58755838E7}"/>
              </a:ext>
            </a:extLst>
          </p:cNvPr>
          <p:cNvSpPr>
            <a:spLocks noGrp="1"/>
          </p:cNvSpPr>
          <p:nvPr>
            <p:ph idx="1"/>
          </p:nvPr>
        </p:nvSpPr>
        <p:spPr>
          <a:xfrm>
            <a:off x="661518" y="1480737"/>
            <a:ext cx="10077557" cy="3549045"/>
          </a:xfrm>
        </p:spPr>
        <p:txBody>
          <a:bodyPr>
            <a:normAutofit fontScale="92500" lnSpcReduction="20000"/>
          </a:bodyPr>
          <a:lstStyle/>
          <a:p>
            <a:r>
              <a:rPr lang="en-GB" sz="2300" dirty="0">
                <a:latin typeface="Calibri" panose="020F0502020204030204" pitchFamily="34" charset="0"/>
                <a:cs typeface="Calibri" panose="020F0502020204030204" pitchFamily="34" charset="0"/>
              </a:rPr>
              <a:t>To meet case  study ACME’s   requirements for 1 ,2 and 3  it’s essential to select a DHCP server that allows centralized management of DHCP scopes from a single location. Each site would need a unique DHCP scope based on its designated subnet, ensuring that devices receive IP addresses specific to their location. This setup supports organized IP allocation, which aligns with the requirements for efficient network management and connectivity across all sites.</a:t>
            </a:r>
          </a:p>
          <a:p>
            <a:r>
              <a:rPr lang="en-GB" sz="2300" dirty="0">
                <a:latin typeface="Calibri" panose="020F0502020204030204" pitchFamily="34" charset="0"/>
                <a:cs typeface="Calibri" panose="020F0502020204030204" pitchFamily="34" charset="0"/>
              </a:rPr>
              <a:t>For </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Example of Location with their specific </a:t>
            </a:r>
            <a:r>
              <a:rPr lang="en-US" altLang="en-US" sz="2300" dirty="0">
                <a:latin typeface="Calibri" panose="020F0502020204030204" pitchFamily="34" charset="0"/>
                <a:cs typeface="Calibri" panose="020F0502020204030204" pitchFamily="34" charset="0"/>
              </a:rPr>
              <a:t>s</a:t>
            </a: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Bournemouth: 175.168.1.0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Southampton: 175.168.2.0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Portsmouth: 175.168.3.0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Swindon: 175.168.4.0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Reading: 175.168.5.0</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300" dirty="0">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30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endParaRPr lang="en-GB" dirty="0"/>
          </a:p>
        </p:txBody>
      </p:sp>
    </p:spTree>
    <p:extLst>
      <p:ext uri="{BB962C8B-B14F-4D97-AF65-F5344CB8AC3E}">
        <p14:creationId xmlns:p14="http://schemas.microsoft.com/office/powerpoint/2010/main" val="3299125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939523-61F3-11EB-A868-16299C0C32D5}"/>
              </a:ext>
            </a:extLst>
          </p:cNvPr>
          <p:cNvSpPr>
            <a:spLocks noGrp="1"/>
          </p:cNvSpPr>
          <p:nvPr>
            <p:ph idx="1"/>
          </p:nvPr>
        </p:nvSpPr>
        <p:spPr>
          <a:xfrm>
            <a:off x="525717" y="928612"/>
            <a:ext cx="10077557" cy="3549045"/>
          </a:xfrm>
        </p:spPr>
        <p:txBody>
          <a:bodyPr/>
          <a:lstStyle/>
          <a:p>
            <a:r>
              <a:rPr lang="en-GB" dirty="0"/>
              <a:t>For requirements 1,3 and 7 We also need to set  up a back up system  called fail over would be essential for the DHCP Server  example if one </a:t>
            </a:r>
            <a:r>
              <a:rPr lang="en-GB" dirty="0" err="1"/>
              <a:t>dhcp</a:t>
            </a:r>
            <a:r>
              <a:rPr lang="en-GB" dirty="0"/>
              <a:t> server fails the other server can take over   we would need to consider setting up server such as cloud in a different location of the company</a:t>
            </a:r>
          </a:p>
          <a:p>
            <a:r>
              <a:rPr kumimoji="0" lang="en-US" altLang="en-US" sz="2000" i="0" u="none" strike="noStrike" cap="none" normalizeH="0" baseline="0" dirty="0">
                <a:ln>
                  <a:noFill/>
                </a:ln>
                <a:solidFill>
                  <a:schemeClr val="tx1"/>
                </a:solidFill>
                <a:effectLst/>
                <a:latin typeface="Calibri" panose="020F0502020204030204" pitchFamily="34" charset="0"/>
                <a:cs typeface="Calibri" panose="020F0502020204030204" pitchFamily="34" charset="0"/>
                <a:hlinkClick r:id="rId3"/>
              </a:rPr>
              <a:t>https://www.youtube.com/watch?v=S7Eh7ubTVtY</a:t>
            </a:r>
            <a:endParaRPr kumimoji="0" lang="en-US" altLang="en-US" sz="200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endParaRPr lang="en-GB" dirty="0"/>
          </a:p>
        </p:txBody>
      </p:sp>
    </p:spTree>
    <p:extLst>
      <p:ext uri="{BB962C8B-B14F-4D97-AF65-F5344CB8AC3E}">
        <p14:creationId xmlns:p14="http://schemas.microsoft.com/office/powerpoint/2010/main" val="2441077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8611B-7E55-B89B-F5EA-C67A13977E4D}"/>
              </a:ext>
            </a:extLst>
          </p:cNvPr>
          <p:cNvSpPr>
            <a:spLocks noGrp="1"/>
          </p:cNvSpPr>
          <p:nvPr>
            <p:ph idx="1"/>
          </p:nvPr>
        </p:nvSpPr>
        <p:spPr>
          <a:xfrm>
            <a:off x="876698" y="888705"/>
            <a:ext cx="10077557" cy="3549045"/>
          </a:xfrm>
        </p:spPr>
        <p:txBody>
          <a:bodyPr/>
          <a:lstStyle/>
          <a:p>
            <a:r>
              <a:rPr lang="en-GB" dirty="0"/>
              <a:t>Once the DHCP server has been set up for Acme, thorough testing the Ip addresses is essential to ensure that it functions correctly across all five  locations of the company. Testing will confirm that each site’s DHCP scope is configured accurately and that IP addresses are being allocated as intended. </a:t>
            </a:r>
          </a:p>
        </p:txBody>
      </p:sp>
      <p:pic>
        <p:nvPicPr>
          <p:cNvPr id="3074" name="Picture 2" descr="How To Configure DHCP Server On A Cisco Router">
            <a:extLst>
              <a:ext uri="{FF2B5EF4-FFF2-40B4-BE49-F238E27FC236}">
                <a16:creationId xmlns:a16="http://schemas.microsoft.com/office/drawing/2014/main" id="{0F2581F4-FB47-7314-3312-AB26EF6575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4345" y="3138863"/>
            <a:ext cx="4581236" cy="23261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3E6E564-0A49-A2E7-2794-402AE62DD748}"/>
              </a:ext>
            </a:extLst>
          </p:cNvPr>
          <p:cNvSpPr txBox="1"/>
          <p:nvPr/>
        </p:nvSpPr>
        <p:spPr>
          <a:xfrm>
            <a:off x="3414345" y="5599963"/>
            <a:ext cx="6094070" cy="369332"/>
          </a:xfrm>
          <a:prstGeom prst="rect">
            <a:avLst/>
          </a:prstGeom>
          <a:noFill/>
        </p:spPr>
        <p:txBody>
          <a:bodyPr wrap="square">
            <a:spAutoFit/>
          </a:bodyPr>
          <a:lstStyle/>
          <a:p>
            <a:r>
              <a:rPr lang="en-GB" b="0" i="0" dirty="0">
                <a:solidFill>
                  <a:srgbClr val="2C3E50"/>
                </a:solidFill>
                <a:effectLst/>
                <a:latin typeface="Roboto" panose="02000000000000000000" pitchFamily="2" charset="0"/>
              </a:rPr>
              <a:t> (www.firewall.cx, n.d.)</a:t>
            </a:r>
            <a:endParaRPr lang="en-GB" dirty="0"/>
          </a:p>
        </p:txBody>
      </p:sp>
    </p:spTree>
    <p:extLst>
      <p:ext uri="{BB962C8B-B14F-4D97-AF65-F5344CB8AC3E}">
        <p14:creationId xmlns:p14="http://schemas.microsoft.com/office/powerpoint/2010/main" val="2273949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5F758-A56A-98ED-47EF-8EDE506A54DB}"/>
              </a:ext>
            </a:extLst>
          </p:cNvPr>
          <p:cNvSpPr>
            <a:spLocks noGrp="1"/>
          </p:cNvSpPr>
          <p:nvPr>
            <p:ph type="title"/>
          </p:nvPr>
        </p:nvSpPr>
        <p:spPr/>
        <p:txBody>
          <a:bodyPr/>
          <a:lstStyle/>
          <a:p>
            <a:r>
              <a:rPr lang="en-GB" dirty="0"/>
              <a:t>Building a Dns Server</a:t>
            </a:r>
            <a:br>
              <a:rPr lang="en-GB" dirty="0"/>
            </a:br>
            <a:endParaRPr lang="en-GB" dirty="0"/>
          </a:p>
        </p:txBody>
      </p:sp>
      <p:sp>
        <p:nvSpPr>
          <p:cNvPr id="3" name="Content Placeholder 2">
            <a:extLst>
              <a:ext uri="{FF2B5EF4-FFF2-40B4-BE49-F238E27FC236}">
                <a16:creationId xmlns:a16="http://schemas.microsoft.com/office/drawing/2014/main" id="{1F548395-CE82-87A2-F51E-36D8811CBEEB}"/>
              </a:ext>
            </a:extLst>
          </p:cNvPr>
          <p:cNvSpPr>
            <a:spLocks noGrp="1"/>
          </p:cNvSpPr>
          <p:nvPr>
            <p:ph idx="1"/>
          </p:nvPr>
        </p:nvSpPr>
        <p:spPr/>
        <p:txBody>
          <a:bodyPr/>
          <a:lstStyle/>
          <a:p>
            <a:r>
              <a:rPr lang="en-GB" dirty="0"/>
              <a:t>For requirement 3,6 and 7 we would be required to build Dns Server we need to install a primary  Dns that would be for once server for main site of the company and the other backup Dns would be for the other through this process it would keep the network running smoothly also for employees for example would need to position the Dns server tactfully in other location to reduce latency for the people or employee using the network  for accessing documents and other different information from the different sites of the company.</a:t>
            </a:r>
          </a:p>
        </p:txBody>
      </p:sp>
    </p:spTree>
    <p:extLst>
      <p:ext uri="{BB962C8B-B14F-4D97-AF65-F5344CB8AC3E}">
        <p14:creationId xmlns:p14="http://schemas.microsoft.com/office/powerpoint/2010/main" val="1268787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20D2C-CB55-31A2-0869-2D0398F4FD3F}"/>
              </a:ext>
            </a:extLst>
          </p:cNvPr>
          <p:cNvSpPr>
            <a:spLocks noGrp="1"/>
          </p:cNvSpPr>
          <p:nvPr>
            <p:ph type="title"/>
          </p:nvPr>
        </p:nvSpPr>
        <p:spPr/>
        <p:txBody>
          <a:bodyPr/>
          <a:lstStyle/>
          <a:p>
            <a:r>
              <a:rPr lang="en-GB" dirty="0"/>
              <a:t>DNS Server </a:t>
            </a:r>
            <a:br>
              <a:rPr lang="en-GB" dirty="0"/>
            </a:br>
            <a:endParaRPr lang="en-GB" dirty="0"/>
          </a:p>
        </p:txBody>
      </p:sp>
      <p:sp>
        <p:nvSpPr>
          <p:cNvPr id="3" name="Content Placeholder 2">
            <a:extLst>
              <a:ext uri="{FF2B5EF4-FFF2-40B4-BE49-F238E27FC236}">
                <a16:creationId xmlns:a16="http://schemas.microsoft.com/office/drawing/2014/main" id="{B3753AA2-B5BE-BBFA-DA51-93F6E61E06E6}"/>
              </a:ext>
            </a:extLst>
          </p:cNvPr>
          <p:cNvSpPr>
            <a:spLocks noGrp="1"/>
          </p:cNvSpPr>
          <p:nvPr>
            <p:ph idx="1"/>
          </p:nvPr>
        </p:nvSpPr>
        <p:spPr/>
        <p:txBody>
          <a:bodyPr/>
          <a:lstStyle/>
          <a:p>
            <a:r>
              <a:rPr lang="en-GB" dirty="0"/>
              <a:t>There are alternative option For installing and configuring  DNS Server  is  in windows server on the Active directory as it easier for the company to use windows based server</a:t>
            </a:r>
          </a:p>
          <a:p>
            <a:r>
              <a:rPr lang="en-GB" dirty="0"/>
              <a:t>First We need to go to the Server Manager </a:t>
            </a:r>
          </a:p>
          <a:p>
            <a:r>
              <a:rPr lang="en-GB" dirty="0"/>
              <a:t>Add roles and features </a:t>
            </a:r>
          </a:p>
          <a:p>
            <a:r>
              <a:rPr lang="en-GB" dirty="0"/>
              <a:t>Then we need to select our server  as for the case for example acme.com and then select DNS to install  the DNS</a:t>
            </a:r>
          </a:p>
          <a:p>
            <a:r>
              <a:rPr lang="en-GB" dirty="0"/>
              <a:t>DNS will be installed and DNS server can be used</a:t>
            </a:r>
          </a:p>
          <a:p>
            <a:endParaRPr lang="en-GB" dirty="0"/>
          </a:p>
          <a:p>
            <a:endParaRPr lang="en-GB" dirty="0"/>
          </a:p>
          <a:p>
            <a:endParaRPr lang="en-GB" dirty="0"/>
          </a:p>
        </p:txBody>
      </p:sp>
    </p:spTree>
    <p:extLst>
      <p:ext uri="{BB962C8B-B14F-4D97-AF65-F5344CB8AC3E}">
        <p14:creationId xmlns:p14="http://schemas.microsoft.com/office/powerpoint/2010/main" val="3923050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19EAC35-68C5-B1B3-CCC7-C727A7334890}"/>
              </a:ext>
            </a:extLst>
          </p:cNvPr>
          <p:cNvSpPr>
            <a:spLocks noGrp="1"/>
          </p:cNvSpPr>
          <p:nvPr>
            <p:ph type="subTitle" idx="1"/>
          </p:nvPr>
        </p:nvSpPr>
        <p:spPr>
          <a:xfrm>
            <a:off x="86732" y="812031"/>
            <a:ext cx="11121457" cy="5498234"/>
          </a:xfrm>
        </p:spPr>
        <p:txBody>
          <a:bodyPr/>
          <a:lstStyle/>
          <a:p>
            <a:r>
              <a:rPr lang="en-GB" dirty="0"/>
              <a:t>To set up the Dns </a:t>
            </a:r>
          </a:p>
          <a:p>
            <a:r>
              <a:rPr lang="en-GB" dirty="0"/>
              <a:t>For the hardware requirement we would need virtual machine or computer running a </a:t>
            </a:r>
            <a:r>
              <a:rPr lang="en-GB" dirty="0" err="1"/>
              <a:t>dns</a:t>
            </a:r>
            <a:r>
              <a:rPr lang="en-GB" dirty="0"/>
              <a:t> Server You would also need to make sure static Ip address is added</a:t>
            </a:r>
          </a:p>
          <a:p>
            <a:endParaRPr lang="en-GB" dirty="0"/>
          </a:p>
          <a:p>
            <a:r>
              <a:rPr lang="en-GB" dirty="0"/>
              <a:t>The software requirement for using </a:t>
            </a:r>
            <a:r>
              <a:rPr lang="en-GB" dirty="0" err="1"/>
              <a:t>dns</a:t>
            </a:r>
            <a:r>
              <a:rPr lang="en-GB" dirty="0"/>
              <a:t> would be the Windows Server or Linux  by installing the package called bind</a:t>
            </a:r>
          </a:p>
        </p:txBody>
      </p:sp>
      <p:pic>
        <p:nvPicPr>
          <p:cNvPr id="9" name="Picture 8">
            <a:extLst>
              <a:ext uri="{FF2B5EF4-FFF2-40B4-BE49-F238E27FC236}">
                <a16:creationId xmlns:a16="http://schemas.microsoft.com/office/drawing/2014/main" id="{59885AF8-9A6C-6CAD-F750-F64A1DE646A9}"/>
              </a:ext>
            </a:extLst>
          </p:cNvPr>
          <p:cNvPicPr>
            <a:picLocks noChangeAspect="1"/>
          </p:cNvPicPr>
          <p:nvPr/>
        </p:nvPicPr>
        <p:blipFill>
          <a:blip r:embed="rId3"/>
          <a:srcRect l="6526" t="12955" r="14958" b="29646"/>
          <a:stretch/>
        </p:blipFill>
        <p:spPr>
          <a:xfrm>
            <a:off x="6458673" y="4213185"/>
            <a:ext cx="4363656" cy="879676"/>
          </a:xfrm>
          <a:prstGeom prst="rect">
            <a:avLst/>
          </a:prstGeom>
        </p:spPr>
      </p:pic>
    </p:spTree>
    <p:extLst>
      <p:ext uri="{BB962C8B-B14F-4D97-AF65-F5344CB8AC3E}">
        <p14:creationId xmlns:p14="http://schemas.microsoft.com/office/powerpoint/2010/main" val="3342219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E8CF-D26C-FBE0-9EF1-A4C3C42F1FFD}"/>
              </a:ext>
            </a:extLst>
          </p:cNvPr>
          <p:cNvSpPr>
            <a:spLocks noGrp="1"/>
          </p:cNvSpPr>
          <p:nvPr>
            <p:ph type="title"/>
          </p:nvPr>
        </p:nvSpPr>
        <p:spPr/>
        <p:txBody>
          <a:bodyPr/>
          <a:lstStyle/>
          <a:p>
            <a:r>
              <a:rPr lang="en-GB" dirty="0"/>
              <a:t>Building Web Server</a:t>
            </a:r>
            <a:br>
              <a:rPr lang="en-GB" dirty="0"/>
            </a:br>
            <a:endParaRPr lang="en-GB" dirty="0"/>
          </a:p>
        </p:txBody>
      </p:sp>
      <p:sp>
        <p:nvSpPr>
          <p:cNvPr id="3" name="Content Placeholder 2">
            <a:extLst>
              <a:ext uri="{FF2B5EF4-FFF2-40B4-BE49-F238E27FC236}">
                <a16:creationId xmlns:a16="http://schemas.microsoft.com/office/drawing/2014/main" id="{3BF990E9-8497-CC83-1D96-1009492E95B7}"/>
              </a:ext>
            </a:extLst>
          </p:cNvPr>
          <p:cNvSpPr>
            <a:spLocks noGrp="1"/>
          </p:cNvSpPr>
          <p:nvPr>
            <p:ph idx="1"/>
          </p:nvPr>
        </p:nvSpPr>
        <p:spPr/>
        <p:txBody>
          <a:bodyPr/>
          <a:lstStyle/>
          <a:p>
            <a:r>
              <a:rPr lang="en-GB" dirty="0"/>
              <a:t>Because Acme requires  in requirement 4,5 and 7 outlined in the case study it particularly those related to hosting public website for example like web server at Bournemouth site would allow customers and other sites to be able to be accessible but in the other hand there is also disadvantages which would be the latency concerns of high traffic loads with slow response time because of overloaded users to solve this we would need cloud  based fail over solutions  and an internal intranet </a:t>
            </a:r>
          </a:p>
        </p:txBody>
      </p:sp>
    </p:spTree>
    <p:extLst>
      <p:ext uri="{BB962C8B-B14F-4D97-AF65-F5344CB8AC3E}">
        <p14:creationId xmlns:p14="http://schemas.microsoft.com/office/powerpoint/2010/main" val="2593351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DECE1-9B83-F837-54FB-8BF3F1CC9E66}"/>
              </a:ext>
            </a:extLst>
          </p:cNvPr>
          <p:cNvSpPr>
            <a:spLocks noGrp="1"/>
          </p:cNvSpPr>
          <p:nvPr>
            <p:ph idx="1"/>
          </p:nvPr>
        </p:nvSpPr>
        <p:spPr>
          <a:xfrm>
            <a:off x="137790" y="485267"/>
            <a:ext cx="11250646" cy="5943242"/>
          </a:xfrm>
        </p:spPr>
        <p:txBody>
          <a:bodyPr/>
          <a:lstStyle/>
          <a:p>
            <a:r>
              <a:rPr lang="en-GB" b="0" i="0" dirty="0">
                <a:solidFill>
                  <a:srgbClr val="2C3E50"/>
                </a:solidFill>
                <a:effectLst/>
                <a:latin typeface="Roboto" panose="02000000000000000000" pitchFamily="2" charset="0"/>
              </a:rPr>
              <a:t>(</a:t>
            </a:r>
            <a:r>
              <a:rPr lang="en-GB" b="0" i="0" dirty="0" err="1">
                <a:solidFill>
                  <a:srgbClr val="2C3E50"/>
                </a:solidFill>
                <a:effectLst/>
                <a:latin typeface="Roboto" panose="02000000000000000000" pitchFamily="2" charset="0"/>
              </a:rPr>
              <a:t>Gcore</a:t>
            </a:r>
            <a:r>
              <a:rPr lang="en-GB" b="0" i="0" dirty="0">
                <a:solidFill>
                  <a:srgbClr val="2C3E50"/>
                </a:solidFill>
                <a:effectLst/>
                <a:latin typeface="Roboto" panose="02000000000000000000" pitchFamily="2" charset="0"/>
              </a:rPr>
              <a:t>, n.d.) </a:t>
            </a:r>
            <a:r>
              <a:rPr lang="en-GB" dirty="0"/>
              <a:t>We can set up web Server using ubuntu this resource of website will help to install web server in ubuntu</a:t>
            </a:r>
          </a:p>
          <a:p>
            <a:r>
              <a:rPr lang="en-GB" b="0" i="0" dirty="0">
                <a:solidFill>
                  <a:srgbClr val="2C3E50"/>
                </a:solidFill>
                <a:effectLst/>
                <a:latin typeface="Roboto" panose="02000000000000000000" pitchFamily="2" charset="0"/>
              </a:rPr>
              <a:t>(</a:t>
            </a:r>
            <a:r>
              <a:rPr lang="en-GB" b="0" i="0" dirty="0" err="1">
                <a:solidFill>
                  <a:srgbClr val="2C3E50"/>
                </a:solidFill>
                <a:effectLst/>
                <a:latin typeface="Roboto" panose="02000000000000000000" pitchFamily="2" charset="0"/>
              </a:rPr>
              <a:t>Gcore</a:t>
            </a:r>
            <a:r>
              <a:rPr lang="en-GB" b="0" i="0" dirty="0">
                <a:solidFill>
                  <a:srgbClr val="2C3E50"/>
                </a:solidFill>
                <a:effectLst/>
                <a:latin typeface="Roboto" panose="02000000000000000000" pitchFamily="2" charset="0"/>
              </a:rPr>
              <a:t>, n.d.)</a:t>
            </a:r>
            <a:endParaRPr lang="en-GB" dirty="0"/>
          </a:p>
          <a:p>
            <a:endParaRPr lang="en-GB" dirty="0"/>
          </a:p>
          <a:p>
            <a:r>
              <a:rPr lang="en-GB" dirty="0"/>
              <a:t>Or </a:t>
            </a:r>
          </a:p>
          <a:p>
            <a:endParaRPr lang="en-GB" dirty="0"/>
          </a:p>
          <a:p>
            <a:r>
              <a:rPr lang="en-GB" dirty="0"/>
              <a:t>We can set up Web server in  Windows server in the active directory</a:t>
            </a:r>
          </a:p>
          <a:p>
            <a:endParaRPr lang="en-GB" dirty="0"/>
          </a:p>
          <a:p>
            <a:endParaRPr lang="en-GB" dirty="0"/>
          </a:p>
        </p:txBody>
      </p:sp>
    </p:spTree>
    <p:extLst>
      <p:ext uri="{BB962C8B-B14F-4D97-AF65-F5344CB8AC3E}">
        <p14:creationId xmlns:p14="http://schemas.microsoft.com/office/powerpoint/2010/main" val="1995261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7C2BA-73C6-4673-E65A-195373CECAB4}"/>
              </a:ext>
            </a:extLst>
          </p:cNvPr>
          <p:cNvSpPr>
            <a:spLocks noGrp="1"/>
          </p:cNvSpPr>
          <p:nvPr>
            <p:ph type="ctrTitle"/>
          </p:nvPr>
        </p:nvSpPr>
        <p:spPr/>
        <p:txBody>
          <a:bodyPr/>
          <a:lstStyle/>
          <a:p>
            <a:r>
              <a:rPr lang="en-GB" dirty="0"/>
              <a:t>Conclusion </a:t>
            </a:r>
            <a:br>
              <a:rPr lang="en-GB" dirty="0"/>
            </a:br>
            <a:endParaRPr lang="en-GB" dirty="0"/>
          </a:p>
        </p:txBody>
      </p:sp>
      <p:sp>
        <p:nvSpPr>
          <p:cNvPr id="3" name="Subtitle 2">
            <a:extLst>
              <a:ext uri="{FF2B5EF4-FFF2-40B4-BE49-F238E27FC236}">
                <a16:creationId xmlns:a16="http://schemas.microsoft.com/office/drawing/2014/main" id="{59BC40D8-345F-C58C-B8E0-35A750FF38F1}"/>
              </a:ext>
            </a:extLst>
          </p:cNvPr>
          <p:cNvSpPr>
            <a:spLocks noGrp="1"/>
          </p:cNvSpPr>
          <p:nvPr>
            <p:ph type="subTitle" idx="1"/>
          </p:nvPr>
        </p:nvSpPr>
        <p:spPr/>
        <p:txBody>
          <a:bodyPr/>
          <a:lstStyle/>
          <a:p>
            <a:r>
              <a:rPr lang="en-GB" dirty="0"/>
              <a:t>In conclusion, the recommended network infrastructure not only fulfills  but also achieve the Acme’s goals and requirements as explained above slides</a:t>
            </a:r>
          </a:p>
        </p:txBody>
      </p:sp>
    </p:spTree>
    <p:extLst>
      <p:ext uri="{BB962C8B-B14F-4D97-AF65-F5344CB8AC3E}">
        <p14:creationId xmlns:p14="http://schemas.microsoft.com/office/powerpoint/2010/main" val="4258659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190AD-FD78-91B9-D490-815443AE76B4}"/>
              </a:ext>
            </a:extLst>
          </p:cNvPr>
          <p:cNvSpPr>
            <a:spLocks noGrp="1"/>
          </p:cNvSpPr>
          <p:nvPr>
            <p:ph type="ctrTitle"/>
          </p:nvPr>
        </p:nvSpPr>
        <p:spPr>
          <a:xfrm>
            <a:off x="2135833" y="108374"/>
            <a:ext cx="3960167" cy="1159111"/>
          </a:xfrm>
        </p:spPr>
        <p:txBody>
          <a:bodyPr/>
          <a:lstStyle/>
          <a:p>
            <a:r>
              <a:rPr lang="en-GB" dirty="0"/>
              <a:t>References </a:t>
            </a:r>
          </a:p>
        </p:txBody>
      </p:sp>
      <p:sp>
        <p:nvSpPr>
          <p:cNvPr id="3" name="Subtitle 2">
            <a:extLst>
              <a:ext uri="{FF2B5EF4-FFF2-40B4-BE49-F238E27FC236}">
                <a16:creationId xmlns:a16="http://schemas.microsoft.com/office/drawing/2014/main" id="{E98FC083-8F0E-B8BA-3729-F791DF7389E6}"/>
              </a:ext>
            </a:extLst>
          </p:cNvPr>
          <p:cNvSpPr>
            <a:spLocks noGrp="1"/>
          </p:cNvSpPr>
          <p:nvPr>
            <p:ph type="subTitle" idx="1"/>
          </p:nvPr>
        </p:nvSpPr>
        <p:spPr>
          <a:xfrm>
            <a:off x="629940" y="1681163"/>
            <a:ext cx="10072922" cy="3633221"/>
          </a:xfrm>
        </p:spPr>
        <p:txBody>
          <a:bodyPr>
            <a:normAutofit fontScale="25000" lnSpcReduction="20000"/>
          </a:bodyPr>
          <a:lstStyle/>
          <a:p>
            <a:r>
              <a:rPr lang="en-GB" sz="4000" b="0" i="0" dirty="0">
                <a:solidFill>
                  <a:srgbClr val="2C3E50"/>
                </a:solidFill>
                <a:effectLst/>
                <a:latin typeface="Calibri" panose="020F0502020204030204" pitchFamily="34" charset="0"/>
              </a:rPr>
              <a:t>Shutterstock. (2015). </a:t>
            </a:r>
            <a:r>
              <a:rPr lang="en-GB" sz="4000" b="0" i="1" dirty="0">
                <a:solidFill>
                  <a:srgbClr val="2C3E50"/>
                </a:solidFill>
                <a:effectLst/>
                <a:latin typeface="Calibri" panose="020F0502020204030204" pitchFamily="34" charset="0"/>
              </a:rPr>
              <a:t>75 </a:t>
            </a:r>
            <a:r>
              <a:rPr lang="en-GB" sz="4000" b="0" i="1" dirty="0" err="1">
                <a:solidFill>
                  <a:srgbClr val="2C3E50"/>
                </a:solidFill>
                <a:effectLst/>
                <a:latin typeface="Calibri" panose="020F0502020204030204" pitchFamily="34" charset="0"/>
              </a:rPr>
              <a:t>Dhcp</a:t>
            </a:r>
            <a:r>
              <a:rPr lang="en-GB" sz="4000" b="0" i="1" dirty="0">
                <a:solidFill>
                  <a:srgbClr val="2C3E50"/>
                </a:solidFill>
                <a:effectLst/>
                <a:latin typeface="Calibri" panose="020F0502020204030204" pitchFamily="34" charset="0"/>
              </a:rPr>
              <a:t> Stock Vectors and Vector Art | Shutterstock</a:t>
            </a:r>
            <a:r>
              <a:rPr lang="en-GB" sz="4000" b="0" i="0" dirty="0">
                <a:solidFill>
                  <a:srgbClr val="2C3E50"/>
                </a:solidFill>
                <a:effectLst/>
                <a:latin typeface="Calibri" panose="020F0502020204030204" pitchFamily="34" charset="0"/>
              </a:rPr>
              <a:t>. [online] Available at: </a:t>
            </a:r>
            <a:r>
              <a:rPr lang="en-GB" sz="4000" b="0" i="0" dirty="0">
                <a:solidFill>
                  <a:srgbClr val="2C3E50"/>
                </a:solidFill>
                <a:effectLst/>
                <a:latin typeface="Calibri" panose="020F0502020204030204" pitchFamily="34" charset="0"/>
                <a:hlinkClick r:id="rId2"/>
              </a:rPr>
              <a:t>https://www.shutterstock.com/search/dhcp?image_type=vector</a:t>
            </a:r>
            <a:endParaRPr lang="en-GB" sz="4000" b="0" i="0" dirty="0">
              <a:solidFill>
                <a:srgbClr val="2C3E50"/>
              </a:solidFill>
              <a:effectLst/>
              <a:latin typeface="Calibri" panose="020F0502020204030204" pitchFamily="34" charset="0"/>
            </a:endParaRPr>
          </a:p>
          <a:p>
            <a:r>
              <a:rPr lang="en-GB" sz="4000" b="0" i="0" dirty="0">
                <a:solidFill>
                  <a:srgbClr val="2C3E50"/>
                </a:solidFill>
                <a:effectLst/>
                <a:latin typeface="Calibri" panose="020F0502020204030204" pitchFamily="34" charset="0"/>
              </a:rPr>
              <a:t>Pngegg.com. (2024). </a:t>
            </a:r>
            <a:r>
              <a:rPr lang="en-GB" sz="4000" b="0" i="1" dirty="0">
                <a:solidFill>
                  <a:srgbClr val="2C3E50"/>
                </a:solidFill>
                <a:effectLst/>
                <a:latin typeface="Calibri" panose="020F0502020204030204" pitchFamily="34" charset="0"/>
              </a:rPr>
              <a:t>Web Server illustration, Web server Computer Servers Web hosting service Data </a:t>
            </a:r>
            <a:r>
              <a:rPr lang="en-GB" sz="4000" b="0" i="1" dirty="0" err="1">
                <a:solidFill>
                  <a:srgbClr val="2C3E50"/>
                </a:solidFill>
                <a:effectLst/>
                <a:latin typeface="Calibri" panose="020F0502020204030204" pitchFamily="34" charset="0"/>
              </a:rPr>
              <a:t>center</a:t>
            </a:r>
            <a:r>
              <a:rPr lang="en-GB" sz="4000" b="0" i="1" dirty="0">
                <a:solidFill>
                  <a:srgbClr val="2C3E50"/>
                </a:solidFill>
                <a:effectLst/>
                <a:latin typeface="Calibri" panose="020F0502020204030204" pitchFamily="34" charset="0"/>
              </a:rPr>
              <a:t>, server, computer Network, electronics </a:t>
            </a:r>
            <a:r>
              <a:rPr lang="en-GB" sz="4000" b="0" i="1" dirty="0" err="1">
                <a:solidFill>
                  <a:srgbClr val="2C3E50"/>
                </a:solidFill>
                <a:effectLst/>
                <a:latin typeface="Calibri" panose="020F0502020204030204" pitchFamily="34" charset="0"/>
              </a:rPr>
              <a:t>png</a:t>
            </a:r>
            <a:r>
              <a:rPr lang="en-GB" sz="4000" b="0" i="1" dirty="0">
                <a:solidFill>
                  <a:srgbClr val="2C3E50"/>
                </a:solidFill>
                <a:effectLst/>
                <a:latin typeface="Calibri" panose="020F0502020204030204" pitchFamily="34" charset="0"/>
              </a:rPr>
              <a:t> | </a:t>
            </a:r>
            <a:r>
              <a:rPr lang="en-GB" sz="4000" b="0" i="1" dirty="0" err="1">
                <a:solidFill>
                  <a:srgbClr val="2C3E50"/>
                </a:solidFill>
                <a:effectLst/>
                <a:latin typeface="Calibri" panose="020F0502020204030204" pitchFamily="34" charset="0"/>
              </a:rPr>
              <a:t>PNGEgg</a:t>
            </a:r>
            <a:r>
              <a:rPr lang="en-GB" sz="4000" b="0" i="0" dirty="0">
                <a:solidFill>
                  <a:srgbClr val="2C3E50"/>
                </a:solidFill>
                <a:effectLst/>
                <a:latin typeface="Calibri" panose="020F0502020204030204" pitchFamily="34" charset="0"/>
              </a:rPr>
              <a:t>. [online] Available at: </a:t>
            </a:r>
            <a:r>
              <a:rPr lang="en-GB" sz="4000" b="0" i="0" dirty="0">
                <a:solidFill>
                  <a:srgbClr val="2C3E50"/>
                </a:solidFill>
                <a:effectLst/>
                <a:latin typeface="Calibri" panose="020F0502020204030204" pitchFamily="34" charset="0"/>
                <a:hlinkClick r:id="rId3"/>
              </a:rPr>
              <a:t>https://www.pngegg.com/en/png-zsiwz</a:t>
            </a:r>
            <a:endParaRPr lang="en-GB" sz="4000" b="0" i="0" dirty="0">
              <a:solidFill>
                <a:srgbClr val="2C3E50"/>
              </a:solidFill>
              <a:effectLst/>
              <a:latin typeface="Calibri" panose="020F0502020204030204" pitchFamily="34" charset="0"/>
            </a:endParaRPr>
          </a:p>
          <a:p>
            <a:pPr algn="l"/>
            <a:r>
              <a:rPr lang="en-GB" sz="4300" b="0" i="0" dirty="0" err="1">
                <a:solidFill>
                  <a:srgbClr val="000000"/>
                </a:solidFill>
                <a:effectLst/>
                <a:latin typeface="Calibri" panose="020F0502020204030204" pitchFamily="34" charset="0"/>
              </a:rPr>
              <a:t>NewServerLife</a:t>
            </a:r>
            <a:r>
              <a:rPr lang="en-GB" sz="4300" b="0" i="0" dirty="0">
                <a:solidFill>
                  <a:srgbClr val="000000"/>
                </a:solidFill>
                <a:effectLst/>
                <a:latin typeface="Calibri" panose="020F0502020204030204" pitchFamily="34" charset="0"/>
              </a:rPr>
              <a:t>. (n.d.). </a:t>
            </a:r>
            <a:r>
              <a:rPr lang="en-GB" sz="4300" b="0" i="1" dirty="0">
                <a:solidFill>
                  <a:srgbClr val="000000"/>
                </a:solidFill>
                <a:effectLst/>
                <a:latin typeface="Calibri" panose="020F0502020204030204" pitchFamily="34" charset="0"/>
              </a:rPr>
              <a:t>What is DHCP server and how to configure IT | newserverlife.com</a:t>
            </a:r>
            <a:r>
              <a:rPr lang="en-GB" sz="4300" b="0" i="0" dirty="0">
                <a:solidFill>
                  <a:srgbClr val="000000"/>
                </a:solidFill>
                <a:effectLst/>
                <a:latin typeface="Calibri" panose="020F0502020204030204" pitchFamily="34" charset="0"/>
              </a:rPr>
              <a:t>. [online] Available at: </a:t>
            </a:r>
            <a:r>
              <a:rPr lang="en-GB" sz="4300" b="0" i="0" dirty="0">
                <a:solidFill>
                  <a:srgbClr val="000000"/>
                </a:solidFill>
                <a:effectLst/>
                <a:latin typeface="Calibri" panose="020F0502020204030204" pitchFamily="34" charset="0"/>
                <a:hlinkClick r:id="rId4"/>
              </a:rPr>
              <a:t>https://newserverlife.com/articles/what-is-dhcp-server-and-how-to-configure-it/</a:t>
            </a:r>
            <a:r>
              <a:rPr lang="en-GB" sz="4300" b="0" i="0" dirty="0">
                <a:solidFill>
                  <a:srgbClr val="000000"/>
                </a:solidFill>
                <a:effectLst/>
                <a:latin typeface="Calibri" panose="020F0502020204030204" pitchFamily="34" charset="0"/>
              </a:rPr>
              <a:t>.</a:t>
            </a:r>
          </a:p>
          <a:p>
            <a:pPr algn="l"/>
            <a:r>
              <a:rPr lang="en-GB" sz="4300" b="0" i="0" dirty="0">
                <a:solidFill>
                  <a:srgbClr val="000000"/>
                </a:solidFill>
                <a:effectLst/>
                <a:latin typeface="Calibri" panose="020F0502020204030204" pitchFamily="34" charset="0"/>
              </a:rPr>
              <a:t>Beer, J. (2018). </a:t>
            </a:r>
            <a:r>
              <a:rPr lang="en-GB" sz="4300" b="0" i="1" dirty="0">
                <a:solidFill>
                  <a:srgbClr val="000000"/>
                </a:solidFill>
                <a:effectLst/>
                <a:latin typeface="Calibri" panose="020F0502020204030204" pitchFamily="34" charset="0"/>
              </a:rPr>
              <a:t>Installing and Configuring Active Directory – Windows Server 2016</a:t>
            </a:r>
            <a:r>
              <a:rPr lang="en-GB" sz="4300" b="0" i="0" dirty="0">
                <a:solidFill>
                  <a:srgbClr val="000000"/>
                </a:solidFill>
                <a:effectLst/>
                <a:latin typeface="Calibri" panose="020F0502020204030204" pitchFamily="34" charset="0"/>
              </a:rPr>
              <a:t>. [online] www.readandexecute.com. Available at: </a:t>
            </a:r>
            <a:r>
              <a:rPr lang="en-GB" sz="4300" b="0" i="0" dirty="0">
                <a:solidFill>
                  <a:srgbClr val="000000"/>
                </a:solidFill>
                <a:effectLst/>
                <a:latin typeface="Calibri" panose="020F0502020204030204" pitchFamily="34" charset="0"/>
                <a:hlinkClick r:id="rId5"/>
              </a:rPr>
              <a:t>https://www.readandexecute.com/how-to/server-2016/active-directory/how-to-server-2016installing-active-directory-server-2016/</a:t>
            </a:r>
            <a:r>
              <a:rPr lang="en-GB" sz="4300" b="0" i="0" dirty="0">
                <a:solidFill>
                  <a:srgbClr val="000000"/>
                </a:solidFill>
                <a:effectLst/>
                <a:latin typeface="Calibri" panose="020F0502020204030204" pitchFamily="34" charset="0"/>
              </a:rPr>
              <a:t>.</a:t>
            </a:r>
          </a:p>
          <a:p>
            <a:pPr algn="l"/>
            <a:r>
              <a:rPr lang="en-GB" sz="4000" b="0" i="0" dirty="0">
                <a:solidFill>
                  <a:srgbClr val="000000"/>
                </a:solidFill>
                <a:effectLst/>
                <a:latin typeface="Calibri" panose="020F0502020204030204" pitchFamily="34" charset="0"/>
              </a:rPr>
              <a:t>Blackburn in Tech (2024). </a:t>
            </a:r>
            <a:r>
              <a:rPr lang="en-GB" sz="4000" b="0" i="1" dirty="0">
                <a:solidFill>
                  <a:srgbClr val="000000"/>
                </a:solidFill>
                <a:effectLst/>
                <a:latin typeface="Calibri" panose="020F0502020204030204" pitchFamily="34" charset="0"/>
              </a:rPr>
              <a:t>Setting Up Your Own DNS Server: Building a BIND9 Server on Ubuntu!</a:t>
            </a:r>
            <a:r>
              <a:rPr lang="en-GB" sz="4000" b="0" i="0" dirty="0">
                <a:solidFill>
                  <a:srgbClr val="000000"/>
                </a:solidFill>
                <a:effectLst/>
                <a:latin typeface="Calibri" panose="020F0502020204030204" pitchFamily="34" charset="0"/>
              </a:rPr>
              <a:t> [online] YouTube. Available at: </a:t>
            </a:r>
            <a:r>
              <a:rPr lang="en-GB" sz="4000" b="0" i="0" dirty="0">
                <a:solidFill>
                  <a:srgbClr val="000000"/>
                </a:solidFill>
                <a:effectLst/>
                <a:latin typeface="Calibri" panose="020F0502020204030204" pitchFamily="34" charset="0"/>
                <a:hlinkClick r:id="rId6"/>
              </a:rPr>
              <a:t>https://www.youtube.com/watch?v=6mfEYAkDwRs</a:t>
            </a:r>
            <a:endParaRPr lang="en-GB" sz="4000" b="0" i="0" dirty="0">
              <a:solidFill>
                <a:srgbClr val="000000"/>
              </a:solidFill>
              <a:effectLst/>
              <a:latin typeface="Calibri" panose="020F0502020204030204" pitchFamily="34" charset="0"/>
            </a:endParaRPr>
          </a:p>
          <a:p>
            <a:pPr algn="l"/>
            <a:r>
              <a:rPr lang="en-GB" sz="3600" b="0" i="0" dirty="0">
                <a:solidFill>
                  <a:srgbClr val="000000"/>
                </a:solidFill>
                <a:effectLst/>
                <a:latin typeface="Calibri" panose="020F0502020204030204" pitchFamily="34" charset="0"/>
              </a:rPr>
              <a:t>www.firewall.cx. (n.d.). </a:t>
            </a:r>
            <a:r>
              <a:rPr lang="en-GB" sz="3600" b="0" i="1" dirty="0">
                <a:solidFill>
                  <a:srgbClr val="000000"/>
                </a:solidFill>
                <a:effectLst/>
                <a:latin typeface="Calibri" panose="020F0502020204030204" pitchFamily="34" charset="0"/>
              </a:rPr>
              <a:t>How To Configure DHCP Server On A Cisco Router</a:t>
            </a:r>
            <a:r>
              <a:rPr lang="en-GB" sz="3600" b="0" i="0" dirty="0">
                <a:solidFill>
                  <a:srgbClr val="000000"/>
                </a:solidFill>
                <a:effectLst/>
                <a:latin typeface="Calibri" panose="020F0502020204030204" pitchFamily="34" charset="0"/>
              </a:rPr>
              <a:t>. [online] Available at: </a:t>
            </a:r>
            <a:r>
              <a:rPr lang="en-GB" sz="3600" b="0" i="0" dirty="0">
                <a:solidFill>
                  <a:srgbClr val="000000"/>
                </a:solidFill>
                <a:effectLst/>
                <a:latin typeface="Calibri" panose="020F0502020204030204" pitchFamily="34" charset="0"/>
                <a:hlinkClick r:id="rId7"/>
              </a:rPr>
              <a:t>https://www.firewall.cx/cisco/cisco-routers/cisco-router-dhcp-config.html</a:t>
            </a:r>
            <a:r>
              <a:rPr lang="en-GB" sz="3600" b="0" i="0" dirty="0">
                <a:solidFill>
                  <a:srgbClr val="000000"/>
                </a:solidFill>
                <a:effectLst/>
                <a:latin typeface="Calibri" panose="020F0502020204030204" pitchFamily="34" charset="0"/>
              </a:rPr>
              <a:t>.</a:t>
            </a:r>
          </a:p>
          <a:p>
            <a:pPr algn="l"/>
            <a:endParaRPr lang="en-GB" sz="3600" b="0" i="0" dirty="0">
              <a:solidFill>
                <a:srgbClr val="000000"/>
              </a:solidFill>
              <a:effectLst/>
              <a:latin typeface="Calibri" panose="020F0502020204030204" pitchFamily="34" charset="0"/>
            </a:endParaRPr>
          </a:p>
          <a:p>
            <a:pPr algn="l"/>
            <a:r>
              <a:rPr lang="en-GB" sz="3600" b="0" i="0" dirty="0">
                <a:solidFill>
                  <a:srgbClr val="000000"/>
                </a:solidFill>
                <a:effectLst/>
                <a:latin typeface="Calibri" panose="020F0502020204030204" pitchFamily="34" charset="0"/>
              </a:rPr>
              <a:t>‌</a:t>
            </a:r>
            <a:r>
              <a:rPr lang="en-GB" sz="4300" b="0" i="0" dirty="0">
                <a:solidFill>
                  <a:srgbClr val="000000"/>
                </a:solidFill>
                <a:effectLst/>
                <a:latin typeface="Calibri" panose="020F0502020204030204" pitchFamily="34" charset="0"/>
              </a:rPr>
              <a:t>‌</a:t>
            </a:r>
            <a:r>
              <a:rPr lang="en-GB" sz="4300" dirty="0">
                <a:hlinkClick r:id="rId8"/>
              </a:rPr>
              <a:t>https://www.parkplacetechnologies.com/blog/what-is-dhcp-how-works-benefits/</a:t>
            </a:r>
            <a:endParaRPr lang="en-GB" sz="4300" dirty="0"/>
          </a:p>
          <a:p>
            <a:pPr algn="l"/>
            <a:r>
              <a:rPr lang="en-GB" sz="4000" b="0" i="0" dirty="0" err="1">
                <a:solidFill>
                  <a:srgbClr val="000000"/>
                </a:solidFill>
                <a:effectLst/>
                <a:latin typeface="Calibri" panose="020F0502020204030204" pitchFamily="34" charset="0"/>
              </a:rPr>
              <a:t>Gcore</a:t>
            </a:r>
            <a:r>
              <a:rPr lang="en-GB" sz="4000" b="0" i="0" dirty="0">
                <a:solidFill>
                  <a:srgbClr val="000000"/>
                </a:solidFill>
                <a:effectLst/>
                <a:latin typeface="Calibri" panose="020F0502020204030204" pitchFamily="34" charset="0"/>
              </a:rPr>
              <a:t>. (n.d.). </a:t>
            </a:r>
            <a:r>
              <a:rPr lang="en-GB" sz="4000" b="0" i="1" dirty="0">
                <a:solidFill>
                  <a:srgbClr val="000000"/>
                </a:solidFill>
                <a:effectLst/>
                <a:latin typeface="Calibri" panose="020F0502020204030204" pitchFamily="34" charset="0"/>
              </a:rPr>
              <a:t>How to Set Up a Basic Web Server on Ubuntu | Step-by-step Guide</a:t>
            </a:r>
            <a:r>
              <a:rPr lang="en-GB" sz="4000" b="0" i="0" dirty="0">
                <a:solidFill>
                  <a:srgbClr val="000000"/>
                </a:solidFill>
                <a:effectLst/>
                <a:latin typeface="Calibri" panose="020F0502020204030204" pitchFamily="34" charset="0"/>
              </a:rPr>
              <a:t>. [online] Available at: </a:t>
            </a:r>
            <a:r>
              <a:rPr lang="en-GB" sz="4000" b="0" i="0" dirty="0">
                <a:solidFill>
                  <a:srgbClr val="000000"/>
                </a:solidFill>
                <a:effectLst/>
                <a:latin typeface="Calibri" panose="020F0502020204030204" pitchFamily="34" charset="0"/>
                <a:hlinkClick r:id="rId9"/>
              </a:rPr>
              <a:t>https://gcore.com/learning/setting-up-basic-web-server-ubuntu/</a:t>
            </a:r>
            <a:r>
              <a:rPr lang="en-GB" sz="4000" b="0" i="0" dirty="0">
                <a:solidFill>
                  <a:srgbClr val="000000"/>
                </a:solidFill>
                <a:effectLst/>
                <a:latin typeface="Calibri" panose="020F0502020204030204" pitchFamily="34" charset="0"/>
              </a:rPr>
              <a:t>.</a:t>
            </a:r>
          </a:p>
          <a:p>
            <a:pPr algn="l"/>
            <a:endParaRPr lang="en-GB" sz="4000" b="0" i="0" dirty="0">
              <a:solidFill>
                <a:srgbClr val="000000"/>
              </a:solidFill>
              <a:effectLst/>
              <a:latin typeface="Calibri" panose="020F0502020204030204" pitchFamily="34" charset="0"/>
            </a:endParaRPr>
          </a:p>
          <a:p>
            <a:pPr algn="l"/>
            <a:r>
              <a:rPr lang="en-GB" sz="4000" b="0" i="0" dirty="0">
                <a:solidFill>
                  <a:srgbClr val="000000"/>
                </a:solidFill>
                <a:effectLst/>
                <a:latin typeface="Calibri" panose="020F0502020204030204" pitchFamily="34" charset="0"/>
              </a:rPr>
              <a:t>‌</a:t>
            </a:r>
          </a:p>
          <a:p>
            <a:pPr algn="l"/>
            <a:endParaRPr lang="en-GB" sz="4300" dirty="0"/>
          </a:p>
          <a:p>
            <a:endParaRPr lang="en-GB" dirty="0"/>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3049878542"/>
      </p:ext>
    </p:extLst>
  </p:cSld>
  <p:clrMapOvr>
    <a:masterClrMapping/>
  </p:clrMapOvr>
</p:sld>
</file>

<file path=ppt/theme/theme1.xml><?xml version="1.0" encoding="utf-8"?>
<a:theme xmlns:a="http://schemas.openxmlformats.org/drawingml/2006/main" name="RocaVTI">
  <a:themeElements>
    <a:clrScheme name="AnalogousFromRegularSeedRightStep">
      <a:dk1>
        <a:srgbClr val="000000"/>
      </a:dk1>
      <a:lt1>
        <a:srgbClr val="FFFFFF"/>
      </a:lt1>
      <a:dk2>
        <a:srgbClr val="2B301B"/>
      </a:dk2>
      <a:lt2>
        <a:srgbClr val="F3F0F3"/>
      </a:lt2>
      <a:accent1>
        <a:srgbClr val="48B75D"/>
      </a:accent1>
      <a:accent2>
        <a:srgbClr val="3BB183"/>
      </a:accent2>
      <a:accent3>
        <a:srgbClr val="45AFB1"/>
      </a:accent3>
      <a:accent4>
        <a:srgbClr val="3B7DB1"/>
      </a:accent4>
      <a:accent5>
        <a:srgbClr val="4D5EC3"/>
      </a:accent5>
      <a:accent6>
        <a:srgbClr val="6648B6"/>
      </a:accent6>
      <a:hlink>
        <a:srgbClr val="BF3FA7"/>
      </a:hlink>
      <a:folHlink>
        <a:srgbClr val="7F7F7F"/>
      </a:folHlink>
    </a:clrScheme>
    <a:fontScheme name="Custom 36">
      <a:majorFont>
        <a:latin typeface="Georgia Pro Semi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ocaVTI" id="{D79FE1D1-0489-4A69-8531-D0B8CDC31CBE}" vid="{CEBA7FE6-C04B-474E-964F-B022887AD1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1830</TotalTime>
  <Words>1389</Words>
  <Application>Microsoft Office PowerPoint</Application>
  <PresentationFormat>Widescreen</PresentationFormat>
  <Paragraphs>81</Paragraphs>
  <Slides>14</Slides>
  <Notes>7</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__ALPINA_d83382</vt:lpstr>
      <vt:lpstr>Aptos</vt:lpstr>
      <vt:lpstr>Arial</vt:lpstr>
      <vt:lpstr>Avenir Next LT Pro</vt:lpstr>
      <vt:lpstr>Avenir Next LT Pro Light</vt:lpstr>
      <vt:lpstr>Calibri</vt:lpstr>
      <vt:lpstr>Georgia Pro Semibold</vt:lpstr>
      <vt:lpstr>Roboto</vt:lpstr>
      <vt:lpstr>RocaVTI</vt:lpstr>
      <vt:lpstr>Network Implementation –Acme.com By : Ramsey Lewis</vt:lpstr>
      <vt:lpstr>Case Study  Scenario for Acme</vt:lpstr>
      <vt:lpstr>Types of servers in the networks  </vt:lpstr>
      <vt:lpstr>Building DHCP Server  </vt:lpstr>
      <vt:lpstr>PowerPoint Presentation</vt:lpstr>
      <vt:lpstr>PowerPoint Presentation</vt:lpstr>
      <vt:lpstr>PowerPoint Presentation</vt:lpstr>
      <vt:lpstr>Building a Dns Server </vt:lpstr>
      <vt:lpstr>DNS Server  </vt:lpstr>
      <vt:lpstr>PowerPoint Presentation</vt:lpstr>
      <vt:lpstr>Building Web Server </vt:lpstr>
      <vt:lpstr>PowerPoint Presentation</vt:lpstr>
      <vt:lpstr>Conclusion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Ramsey Lewis</dc:creator>
  <cp:lastModifiedBy>Ramsey Lewis</cp:lastModifiedBy>
  <cp:revision>8</cp:revision>
  <dcterms:created xsi:type="dcterms:W3CDTF">2024-11-08T12:08:36Z</dcterms:created>
  <dcterms:modified xsi:type="dcterms:W3CDTF">2024-11-15T14:24:10Z</dcterms:modified>
</cp:coreProperties>
</file>